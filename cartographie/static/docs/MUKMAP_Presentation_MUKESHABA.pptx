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3554"/>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UKMAP.png"/>
          <p:cNvPicPr>
            <a:picLocks noChangeAspect="1"/>
          </p:cNvPicPr>
          <p:nvPr/>
        </p:nvPicPr>
        <p:blipFill>
          <a:blip r:embed="rId2"/>
          <a:stretch>
            <a:fillRect/>
          </a:stretch>
        </p:blipFill>
        <p:spPr>
          <a:xfrm>
            <a:off x="4727448" y="777240"/>
            <a:ext cx="2743200" cy="2743200"/>
          </a:xfrm>
          <a:prstGeom prst="rect">
            <a:avLst/>
          </a:prstGeom>
        </p:spPr>
      </p:pic>
      <p:sp>
        <p:nvSpPr>
          <p:cNvPr id="5" name="TextBox 4"/>
          <p:cNvSpPr txBox="1"/>
          <p:nvPr/>
        </p:nvSpPr>
        <p:spPr>
          <a:xfrm>
            <a:off x="731520" y="548640"/>
            <a:ext cx="2377440" cy="914400"/>
          </a:xfrm>
          <a:prstGeom prst="rect">
            <a:avLst/>
          </a:prstGeom>
          <a:noFill/>
        </p:spPr>
        <p:txBody>
          <a:bodyPr wrap="square" anchor="t" lIns="0" rIns="0" tIns="0" bIns="0">
            <a:spAutoFit/>
          </a:bodyPr>
          <a:lstStyle/>
          <a:p>
            <a:pPr algn="ctr"/>
            <a:r>
              <a:rPr sz="2000" b="1" i="0">
                <a:solidFill>
                  <a:srgbClr val="FFFFFF"/>
                </a:solidFill>
                <a:latin typeface="Calibri"/>
              </a:rPr>
              <a:t>MUKESHABA</a:t>
            </a:r>
          </a:p>
        </p:txBody>
      </p:sp>
      <p:sp>
        <p:nvSpPr>
          <p:cNvPr id="6" name="TextBox 5"/>
          <p:cNvSpPr txBox="1"/>
          <p:nvPr/>
        </p:nvSpPr>
        <p:spPr>
          <a:xfrm>
            <a:off x="731520" y="1051560"/>
            <a:ext cx="2377440" cy="1097280"/>
          </a:xfrm>
          <a:prstGeom prst="rect">
            <a:avLst/>
          </a:prstGeom>
          <a:noFill/>
        </p:spPr>
        <p:txBody>
          <a:bodyPr wrap="square" anchor="t" lIns="0" rIns="0" tIns="0" bIns="0">
            <a:spAutoFit/>
          </a:bodyPr>
          <a:lstStyle/>
          <a:p>
            <a:pPr algn="ctr"/>
            <a:r>
              <a:rPr sz="1100" b="0" i="0">
                <a:solidFill>
                  <a:srgbClr val="BFD0E8"/>
                </a:solidFill>
                <a:latin typeface="Calibri"/>
              </a:rPr>
              <a:t>SOCIÉTÉ D'INGÉNIERIE
&amp; DE CARTOGRAPHIE</a:t>
            </a:r>
          </a:p>
        </p:txBody>
      </p:sp>
      <p:sp>
        <p:nvSpPr>
          <p:cNvPr id="7" name="TextBox 6"/>
          <p:cNvSpPr txBox="1"/>
          <p:nvPr/>
        </p:nvSpPr>
        <p:spPr>
          <a:xfrm>
            <a:off x="9052560" y="640080"/>
            <a:ext cx="2651760" cy="1097280"/>
          </a:xfrm>
          <a:prstGeom prst="rect">
            <a:avLst/>
          </a:prstGeom>
          <a:noFill/>
        </p:spPr>
        <p:txBody>
          <a:bodyPr wrap="square" anchor="t" lIns="0" rIns="0" tIns="0" bIns="0">
            <a:spAutoFit/>
          </a:bodyPr>
          <a:lstStyle/>
          <a:p>
            <a:pPr algn="r"/>
            <a:r>
              <a:rPr sz="1300" b="0" i="0">
                <a:solidFill>
                  <a:srgbClr val="BFD0E8"/>
                </a:solidFill>
                <a:latin typeface="Calibri"/>
              </a:rPr>
              <a:t>Version 1.0</a:t>
            </a:r>
          </a:p>
        </p:txBody>
      </p:sp>
      <p:sp>
        <p:nvSpPr>
          <p:cNvPr id="8" name="TextBox 7"/>
          <p:cNvSpPr txBox="1"/>
          <p:nvPr/>
        </p:nvSpPr>
        <p:spPr>
          <a:xfrm>
            <a:off x="9052560" y="1005840"/>
            <a:ext cx="2651760" cy="1097280"/>
          </a:xfrm>
          <a:prstGeom prst="rect">
            <a:avLst/>
          </a:prstGeom>
          <a:noFill/>
        </p:spPr>
        <p:txBody>
          <a:bodyPr wrap="square" anchor="t" lIns="0" rIns="0" tIns="0" bIns="0">
            <a:spAutoFit/>
          </a:bodyPr>
          <a:lstStyle/>
          <a:p>
            <a:pPr algn="r"/>
            <a:r>
              <a:rPr sz="1300" b="0" i="0">
                <a:solidFill>
                  <a:srgbClr val="BFD0E8"/>
                </a:solidFill>
                <a:latin typeface="Calibri"/>
              </a:rPr>
              <a:t>Août 2026</a:t>
            </a:r>
          </a:p>
        </p:txBody>
      </p:sp>
      <p:sp>
        <p:nvSpPr>
          <p:cNvPr id="9" name="TextBox 8"/>
          <p:cNvSpPr txBox="1"/>
          <p:nvPr/>
        </p:nvSpPr>
        <p:spPr>
          <a:xfrm>
            <a:off x="914400" y="3794760"/>
            <a:ext cx="10360152" cy="1097280"/>
          </a:xfrm>
          <a:prstGeom prst="rect">
            <a:avLst/>
          </a:prstGeom>
          <a:noFill/>
        </p:spPr>
        <p:txBody>
          <a:bodyPr wrap="square" anchor="t" lIns="0" rIns="0" tIns="0" bIns="0">
            <a:spAutoFit/>
          </a:bodyPr>
          <a:lstStyle/>
          <a:p>
            <a:pPr algn="ctr"/>
            <a:r>
              <a:rPr sz="8800" b="1" i="0">
                <a:solidFill>
                  <a:srgbClr val="FFFFFF"/>
                </a:solidFill>
                <a:latin typeface="Calibri"/>
              </a:rPr>
              <a:t>MUKMAP</a:t>
            </a:r>
          </a:p>
        </p:txBody>
      </p:sp>
      <p:sp>
        <p:nvSpPr>
          <p:cNvPr id="10" name="TextBox 9"/>
          <p:cNvSpPr txBox="1"/>
          <p:nvPr/>
        </p:nvSpPr>
        <p:spPr>
          <a:xfrm>
            <a:off x="914400" y="5029200"/>
            <a:ext cx="10360152" cy="640080"/>
          </a:xfrm>
          <a:prstGeom prst="rect">
            <a:avLst/>
          </a:prstGeom>
          <a:noFill/>
        </p:spPr>
        <p:txBody>
          <a:bodyPr wrap="square" anchor="t" lIns="0" rIns="0" tIns="0" bIns="0">
            <a:spAutoFit/>
          </a:bodyPr>
          <a:lstStyle/>
          <a:p>
            <a:pPr algn="ctr"/>
            <a:r>
              <a:rPr sz="2400" b="0" i="0">
                <a:solidFill>
                  <a:srgbClr val="D9E4F2"/>
                </a:solidFill>
                <a:latin typeface="Calibri"/>
              </a:rPr>
              <a:t>Plateforme SIG professionnelle — collecte, suivi et sécurité</a:t>
            </a:r>
          </a:p>
        </p:txBody>
      </p:sp>
      <p:sp>
        <p:nvSpPr>
          <p:cNvPr id="11" name="Rectangle 10"/>
          <p:cNvSpPr/>
          <p:nvPr/>
        </p:nvSpPr>
        <p:spPr>
          <a:xfrm>
            <a:off x="4956048" y="5806440"/>
            <a:ext cx="2286000" cy="4572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6035040"/>
            <a:ext cx="10360152" cy="457200"/>
          </a:xfrm>
          <a:prstGeom prst="rect">
            <a:avLst/>
          </a:prstGeom>
          <a:noFill/>
        </p:spPr>
        <p:txBody>
          <a:bodyPr wrap="square" anchor="t" lIns="0" rIns="0" tIns="0" bIns="0">
            <a:spAutoFit/>
          </a:bodyPr>
          <a:lstStyle/>
          <a:p>
            <a:pPr algn="ctr"/>
            <a:r>
              <a:rPr sz="1600" b="0" i="0">
                <a:solidFill>
                  <a:srgbClr val="BFD0E8"/>
                </a:solidFill>
                <a:latin typeface="Calibri"/>
              </a:rPr>
              <a:t>Présentation officielle — Guide de l'application</a:t>
            </a:r>
          </a:p>
        </p:txBody>
      </p:sp>
      <p:pic>
        <p:nvPicPr>
          <p:cNvPr id="13" name="Picture 12" descr="MUKESHABA.png"/>
          <p:cNvPicPr>
            <a:picLocks noChangeAspect="1"/>
          </p:cNvPicPr>
          <p:nvPr/>
        </p:nvPicPr>
        <p:blipFill>
          <a:blip r:embed="rId3"/>
          <a:stretch>
            <a:fillRect/>
          </a:stretch>
        </p:blipFill>
        <p:spPr>
          <a:xfrm>
            <a:off x="5870448" y="6355080"/>
            <a:ext cx="457200" cy="457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par>
                          <p:cTn id="41" presetID="10" presetClass="entr" presetSubtype="0" fill="hold" grpId="0" nodeType="afterEffect">
                            <p:stCondLst>
                              <p:cond delay="250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fill="hold">
                                    <p:stCondLst>
                                      <p:cond delay="0"/>
                                    </p:stCondLst>
                                  </p:cTn>
                                  <p:tgtEl>
                                    <p:spTgt spid="12"/>
                                  </p:tgtEl>
                                </p:cBhvr>
                              </p:animEffect>
                            </p:childTnLst>
                          </p:cTn>
                        </p:par>
                        <p:par>
                          <p:cTn id="44" presetID="10" presetClass="entr" presetSubtype="0" fill="hold" grpId="0" nodeType="afterEffect">
                            <p:stCondLst>
                              <p:cond delay="275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fill="hold">
                                    <p:stCondLst>
                                      <p:cond delay="0"/>
                                    </p:stCondLst>
                                  </p:cTn>
                                  <p:tgtEl>
                                    <p:spTgt spid="13"/>
                                  </p:tgtEl>
                                </p:cBhvr>
                              </p:animEffect>
                            </p:childTnLst>
                          </p:cTn>
                        </p:par>
                      </p:childTnLst>
                    </p:cTn>
                  </p:par>
                </p:childTnLst>
              </p:cTn>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Sommaire</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02</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Rounded Rectangle 6"/>
          <p:cNvSpPr/>
          <p:nvPr/>
        </p:nvSpPr>
        <p:spPr>
          <a:xfrm>
            <a:off x="914400" y="1051560"/>
            <a:ext cx="502920" cy="502920"/>
          </a:xfrm>
          <a:prstGeom prst="round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143000"/>
            <a:ext cx="502920" cy="320040"/>
          </a:xfrm>
          <a:prstGeom prst="rect">
            <a:avLst/>
          </a:prstGeom>
          <a:noFill/>
        </p:spPr>
        <p:txBody>
          <a:bodyPr wrap="square" anchor="t" lIns="0" rIns="0" tIns="0" bIns="0">
            <a:spAutoFit/>
          </a:bodyPr>
          <a:lstStyle/>
          <a:p>
            <a:pPr algn="ctr"/>
            <a:r>
              <a:rPr sz="1500" b="1" i="0">
                <a:solidFill>
                  <a:srgbClr val="FFFFFF"/>
                </a:solidFill>
                <a:latin typeface="Calibri"/>
              </a:rPr>
              <a:t>03</a:t>
            </a:r>
          </a:p>
        </p:txBody>
      </p:sp>
      <p:sp>
        <p:nvSpPr>
          <p:cNvPr id="9" name="TextBox 8"/>
          <p:cNvSpPr txBox="1"/>
          <p:nvPr/>
        </p:nvSpPr>
        <p:spPr>
          <a:xfrm>
            <a:off x="1600200" y="1133856"/>
            <a:ext cx="4206240" cy="365760"/>
          </a:xfrm>
          <a:prstGeom prst="rect">
            <a:avLst/>
          </a:prstGeom>
          <a:noFill/>
        </p:spPr>
        <p:txBody>
          <a:bodyPr wrap="square" anchor="t" lIns="0" rIns="0" tIns="0" bIns="0">
            <a:spAutoFit/>
          </a:bodyPr>
          <a:lstStyle/>
          <a:p>
            <a:pPr algn="l"/>
            <a:r>
              <a:rPr sz="1500" b="0" i="0">
                <a:solidFill>
                  <a:srgbClr val="5A6477"/>
                </a:solidFill>
                <a:latin typeface="Calibri"/>
              </a:rPr>
              <a:t>MUKMAP en bref</a:t>
            </a:r>
          </a:p>
        </p:txBody>
      </p:sp>
      <p:sp>
        <p:nvSpPr>
          <p:cNvPr id="10" name="Rounded Rectangle 9"/>
          <p:cNvSpPr/>
          <p:nvPr/>
        </p:nvSpPr>
        <p:spPr>
          <a:xfrm>
            <a:off x="914400" y="1737360"/>
            <a:ext cx="502920" cy="502920"/>
          </a:xfrm>
          <a:prstGeom prst="round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502920" cy="320040"/>
          </a:xfrm>
          <a:prstGeom prst="rect">
            <a:avLst/>
          </a:prstGeom>
          <a:noFill/>
        </p:spPr>
        <p:txBody>
          <a:bodyPr wrap="square" anchor="t" lIns="0" rIns="0" tIns="0" bIns="0">
            <a:spAutoFit/>
          </a:bodyPr>
          <a:lstStyle/>
          <a:p>
            <a:pPr algn="ctr"/>
            <a:r>
              <a:rPr sz="1500" b="1" i="0">
                <a:solidFill>
                  <a:srgbClr val="FFFFFF"/>
                </a:solidFill>
                <a:latin typeface="Calibri"/>
              </a:rPr>
              <a:t>04</a:t>
            </a:r>
          </a:p>
        </p:txBody>
      </p:sp>
      <p:sp>
        <p:nvSpPr>
          <p:cNvPr id="12" name="TextBox 11"/>
          <p:cNvSpPr txBox="1"/>
          <p:nvPr/>
        </p:nvSpPr>
        <p:spPr>
          <a:xfrm>
            <a:off x="1600200" y="1819656"/>
            <a:ext cx="4206240" cy="365760"/>
          </a:xfrm>
          <a:prstGeom prst="rect">
            <a:avLst/>
          </a:prstGeom>
          <a:noFill/>
        </p:spPr>
        <p:txBody>
          <a:bodyPr wrap="square" anchor="t" lIns="0" rIns="0" tIns="0" bIns="0">
            <a:spAutoFit/>
          </a:bodyPr>
          <a:lstStyle/>
          <a:p>
            <a:pPr algn="l"/>
            <a:r>
              <a:rPr sz="1500" b="0" i="0">
                <a:solidFill>
                  <a:srgbClr val="5A6477"/>
                </a:solidFill>
                <a:latin typeface="Calibri"/>
              </a:rPr>
              <a:t>Tableau de bord &amp; indicateurs</a:t>
            </a:r>
          </a:p>
        </p:txBody>
      </p:sp>
      <p:sp>
        <p:nvSpPr>
          <p:cNvPr id="13" name="Rounded Rectangle 12"/>
          <p:cNvSpPr/>
          <p:nvPr/>
        </p:nvSpPr>
        <p:spPr>
          <a:xfrm>
            <a:off x="914400" y="2423160"/>
            <a:ext cx="502920" cy="502920"/>
          </a:xfrm>
          <a:prstGeom prst="round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514600"/>
            <a:ext cx="502920" cy="320040"/>
          </a:xfrm>
          <a:prstGeom prst="rect">
            <a:avLst/>
          </a:prstGeom>
          <a:noFill/>
        </p:spPr>
        <p:txBody>
          <a:bodyPr wrap="square" anchor="t" lIns="0" rIns="0" tIns="0" bIns="0">
            <a:spAutoFit/>
          </a:bodyPr>
          <a:lstStyle/>
          <a:p>
            <a:pPr algn="ctr"/>
            <a:r>
              <a:rPr sz="1500" b="1" i="0">
                <a:solidFill>
                  <a:srgbClr val="FFFFFF"/>
                </a:solidFill>
                <a:latin typeface="Calibri"/>
              </a:rPr>
              <a:t>05</a:t>
            </a:r>
          </a:p>
        </p:txBody>
      </p:sp>
      <p:sp>
        <p:nvSpPr>
          <p:cNvPr id="15" name="TextBox 14"/>
          <p:cNvSpPr txBox="1"/>
          <p:nvPr/>
        </p:nvSpPr>
        <p:spPr>
          <a:xfrm>
            <a:off x="1600200" y="2505456"/>
            <a:ext cx="4206240" cy="365760"/>
          </a:xfrm>
          <a:prstGeom prst="rect">
            <a:avLst/>
          </a:prstGeom>
          <a:noFill/>
        </p:spPr>
        <p:txBody>
          <a:bodyPr wrap="square" anchor="t" lIns="0" rIns="0" tIns="0" bIns="0">
            <a:spAutoFit/>
          </a:bodyPr>
          <a:lstStyle/>
          <a:p>
            <a:pPr algn="l"/>
            <a:r>
              <a:rPr sz="1500" b="0" i="0">
                <a:solidFill>
                  <a:srgbClr val="5A6477"/>
                </a:solidFill>
                <a:latin typeface="Calibri"/>
              </a:rPr>
              <a:t>Carte interactive &amp; fonds de carte</a:t>
            </a:r>
          </a:p>
        </p:txBody>
      </p:sp>
      <p:sp>
        <p:nvSpPr>
          <p:cNvPr id="16" name="Rounded Rectangle 15"/>
          <p:cNvSpPr/>
          <p:nvPr/>
        </p:nvSpPr>
        <p:spPr>
          <a:xfrm>
            <a:off x="914400" y="3108960"/>
            <a:ext cx="502920" cy="502920"/>
          </a:xfrm>
          <a:prstGeom prst="round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200400"/>
            <a:ext cx="502920" cy="320040"/>
          </a:xfrm>
          <a:prstGeom prst="rect">
            <a:avLst/>
          </a:prstGeom>
          <a:noFill/>
        </p:spPr>
        <p:txBody>
          <a:bodyPr wrap="square" anchor="t" lIns="0" rIns="0" tIns="0" bIns="0">
            <a:spAutoFit/>
          </a:bodyPr>
          <a:lstStyle/>
          <a:p>
            <a:pPr algn="ctr"/>
            <a:r>
              <a:rPr sz="1500" b="1" i="0">
                <a:solidFill>
                  <a:srgbClr val="FFFFFF"/>
                </a:solidFill>
                <a:latin typeface="Calibri"/>
              </a:rPr>
              <a:t>06</a:t>
            </a:r>
          </a:p>
        </p:txBody>
      </p:sp>
      <p:sp>
        <p:nvSpPr>
          <p:cNvPr id="18" name="TextBox 17"/>
          <p:cNvSpPr txBox="1"/>
          <p:nvPr/>
        </p:nvSpPr>
        <p:spPr>
          <a:xfrm>
            <a:off x="1600200" y="3191256"/>
            <a:ext cx="4206240" cy="365760"/>
          </a:xfrm>
          <a:prstGeom prst="rect">
            <a:avLst/>
          </a:prstGeom>
          <a:noFill/>
        </p:spPr>
        <p:txBody>
          <a:bodyPr wrap="square" anchor="t" lIns="0" rIns="0" tIns="0" bIns="0">
            <a:spAutoFit/>
          </a:bodyPr>
          <a:lstStyle/>
          <a:p>
            <a:pPr algn="l"/>
            <a:r>
              <a:rPr sz="1500" b="0" i="0">
                <a:solidFill>
                  <a:srgbClr val="5A6477"/>
                </a:solidFill>
                <a:latin typeface="Calibri"/>
              </a:rPr>
              <a:t>Collecte de points sur le terrain</a:t>
            </a:r>
          </a:p>
        </p:txBody>
      </p:sp>
      <p:sp>
        <p:nvSpPr>
          <p:cNvPr id="19" name="Rounded Rectangle 18"/>
          <p:cNvSpPr/>
          <p:nvPr/>
        </p:nvSpPr>
        <p:spPr>
          <a:xfrm>
            <a:off x="914400" y="3794760"/>
            <a:ext cx="502920" cy="502920"/>
          </a:xfrm>
          <a:prstGeom prst="round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886200"/>
            <a:ext cx="502920" cy="320040"/>
          </a:xfrm>
          <a:prstGeom prst="rect">
            <a:avLst/>
          </a:prstGeom>
          <a:noFill/>
        </p:spPr>
        <p:txBody>
          <a:bodyPr wrap="square" anchor="t" lIns="0" rIns="0" tIns="0" bIns="0">
            <a:spAutoFit/>
          </a:bodyPr>
          <a:lstStyle/>
          <a:p>
            <a:pPr algn="ctr"/>
            <a:r>
              <a:rPr sz="1500" b="1" i="0">
                <a:solidFill>
                  <a:srgbClr val="FFFFFF"/>
                </a:solidFill>
                <a:latin typeface="Calibri"/>
              </a:rPr>
              <a:t>07</a:t>
            </a:r>
          </a:p>
        </p:txBody>
      </p:sp>
      <p:sp>
        <p:nvSpPr>
          <p:cNvPr id="21" name="TextBox 20"/>
          <p:cNvSpPr txBox="1"/>
          <p:nvPr/>
        </p:nvSpPr>
        <p:spPr>
          <a:xfrm>
            <a:off x="1600200" y="3877056"/>
            <a:ext cx="4206240" cy="365760"/>
          </a:xfrm>
          <a:prstGeom prst="rect">
            <a:avLst/>
          </a:prstGeom>
          <a:noFill/>
        </p:spPr>
        <p:txBody>
          <a:bodyPr wrap="square" anchor="t" lIns="0" rIns="0" tIns="0" bIns="0">
            <a:spAutoFit/>
          </a:bodyPr>
          <a:lstStyle/>
          <a:p>
            <a:pPr algn="l"/>
            <a:r>
              <a:rPr sz="1500" b="0" i="0">
                <a:solidFill>
                  <a:srgbClr val="5A6477"/>
                </a:solidFill>
                <a:latin typeface="Calibri"/>
              </a:rPr>
              <a:t>Zones de sécurité</a:t>
            </a:r>
          </a:p>
        </p:txBody>
      </p:sp>
      <p:sp>
        <p:nvSpPr>
          <p:cNvPr id="22" name="Rounded Rectangle 21"/>
          <p:cNvSpPr/>
          <p:nvPr/>
        </p:nvSpPr>
        <p:spPr>
          <a:xfrm>
            <a:off x="914400" y="4480560"/>
            <a:ext cx="502920" cy="502920"/>
          </a:xfrm>
          <a:prstGeom prst="round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572000"/>
            <a:ext cx="502920" cy="320040"/>
          </a:xfrm>
          <a:prstGeom prst="rect">
            <a:avLst/>
          </a:prstGeom>
          <a:noFill/>
        </p:spPr>
        <p:txBody>
          <a:bodyPr wrap="square" anchor="t" lIns="0" rIns="0" tIns="0" bIns="0">
            <a:spAutoFit/>
          </a:bodyPr>
          <a:lstStyle/>
          <a:p>
            <a:pPr algn="ctr"/>
            <a:r>
              <a:rPr sz="1500" b="1" i="0">
                <a:solidFill>
                  <a:srgbClr val="FFFFFF"/>
                </a:solidFill>
                <a:latin typeface="Calibri"/>
              </a:rPr>
              <a:t>08</a:t>
            </a:r>
          </a:p>
        </p:txBody>
      </p:sp>
      <p:sp>
        <p:nvSpPr>
          <p:cNvPr id="24" name="TextBox 23"/>
          <p:cNvSpPr txBox="1"/>
          <p:nvPr/>
        </p:nvSpPr>
        <p:spPr>
          <a:xfrm>
            <a:off x="1600200" y="4562856"/>
            <a:ext cx="4206240" cy="365760"/>
          </a:xfrm>
          <a:prstGeom prst="rect">
            <a:avLst/>
          </a:prstGeom>
          <a:noFill/>
        </p:spPr>
        <p:txBody>
          <a:bodyPr wrap="square" anchor="t" lIns="0" rIns="0" tIns="0" bIns="0">
            <a:spAutoFit/>
          </a:bodyPr>
          <a:lstStyle/>
          <a:p>
            <a:pPr algn="l"/>
            <a:r>
              <a:rPr sz="1500" b="0" i="0">
                <a:solidFill>
                  <a:srgbClr val="5A6477"/>
                </a:solidFill>
                <a:latin typeface="Calibri"/>
              </a:rPr>
              <a:t>Itinéraires &amp; suivi terrain</a:t>
            </a:r>
          </a:p>
        </p:txBody>
      </p:sp>
      <p:sp>
        <p:nvSpPr>
          <p:cNvPr id="25" name="Rounded Rectangle 24"/>
          <p:cNvSpPr/>
          <p:nvPr/>
        </p:nvSpPr>
        <p:spPr>
          <a:xfrm>
            <a:off x="914400" y="5166360"/>
            <a:ext cx="502920" cy="502920"/>
          </a:xfrm>
          <a:prstGeom prst="round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257800"/>
            <a:ext cx="502920" cy="320040"/>
          </a:xfrm>
          <a:prstGeom prst="rect">
            <a:avLst/>
          </a:prstGeom>
          <a:noFill/>
        </p:spPr>
        <p:txBody>
          <a:bodyPr wrap="square" anchor="t" lIns="0" rIns="0" tIns="0" bIns="0">
            <a:spAutoFit/>
          </a:bodyPr>
          <a:lstStyle/>
          <a:p>
            <a:pPr algn="ctr"/>
            <a:r>
              <a:rPr sz="1500" b="1" i="0">
                <a:solidFill>
                  <a:srgbClr val="FFFFFF"/>
                </a:solidFill>
                <a:latin typeface="Calibri"/>
              </a:rPr>
              <a:t>09</a:t>
            </a:r>
          </a:p>
        </p:txBody>
      </p:sp>
      <p:sp>
        <p:nvSpPr>
          <p:cNvPr id="27" name="TextBox 26"/>
          <p:cNvSpPr txBox="1"/>
          <p:nvPr/>
        </p:nvSpPr>
        <p:spPr>
          <a:xfrm>
            <a:off x="1600200" y="5248656"/>
            <a:ext cx="4206240" cy="365760"/>
          </a:xfrm>
          <a:prstGeom prst="rect">
            <a:avLst/>
          </a:prstGeom>
          <a:noFill/>
        </p:spPr>
        <p:txBody>
          <a:bodyPr wrap="square" anchor="t" lIns="0" rIns="0" tIns="0" bIns="0">
            <a:spAutoFit/>
          </a:bodyPr>
          <a:lstStyle/>
          <a:p>
            <a:pPr algn="l"/>
            <a:r>
              <a:rPr sz="1500" b="0" i="0">
                <a:solidFill>
                  <a:srgbClr val="5A6477"/>
                </a:solidFill>
                <a:latin typeface="Calibri"/>
              </a:rPr>
              <a:t>Projets &amp; activités</a:t>
            </a:r>
          </a:p>
        </p:txBody>
      </p:sp>
      <p:sp>
        <p:nvSpPr>
          <p:cNvPr id="28" name="Rounded Rectangle 27"/>
          <p:cNvSpPr/>
          <p:nvPr/>
        </p:nvSpPr>
        <p:spPr>
          <a:xfrm>
            <a:off x="6400800" y="1051560"/>
            <a:ext cx="502920" cy="502920"/>
          </a:xfrm>
          <a:prstGeom prst="round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1143000"/>
            <a:ext cx="502920" cy="320040"/>
          </a:xfrm>
          <a:prstGeom prst="rect">
            <a:avLst/>
          </a:prstGeom>
          <a:noFill/>
        </p:spPr>
        <p:txBody>
          <a:bodyPr wrap="square" anchor="t" lIns="0" rIns="0" tIns="0" bIns="0">
            <a:spAutoFit/>
          </a:bodyPr>
          <a:lstStyle/>
          <a:p>
            <a:pPr algn="ctr"/>
            <a:r>
              <a:rPr sz="1500" b="1" i="0">
                <a:solidFill>
                  <a:srgbClr val="FFFFFF"/>
                </a:solidFill>
                <a:latin typeface="Calibri"/>
              </a:rPr>
              <a:t>10</a:t>
            </a:r>
          </a:p>
        </p:txBody>
      </p:sp>
      <p:sp>
        <p:nvSpPr>
          <p:cNvPr id="30" name="TextBox 29"/>
          <p:cNvSpPr txBox="1"/>
          <p:nvPr/>
        </p:nvSpPr>
        <p:spPr>
          <a:xfrm>
            <a:off x="7086600" y="1133856"/>
            <a:ext cx="4480560" cy="365760"/>
          </a:xfrm>
          <a:prstGeom prst="rect">
            <a:avLst/>
          </a:prstGeom>
          <a:noFill/>
        </p:spPr>
        <p:txBody>
          <a:bodyPr wrap="square" anchor="t" lIns="0" rIns="0" tIns="0" bIns="0">
            <a:spAutoFit/>
          </a:bodyPr>
          <a:lstStyle/>
          <a:p>
            <a:pPr algn="l"/>
            <a:r>
              <a:rPr sz="1500" b="0" i="0">
                <a:solidFill>
                  <a:srgbClr val="5A6477"/>
                </a:solidFill>
                <a:latin typeface="Calibri"/>
              </a:rPr>
              <a:t>Rapports professionnels</a:t>
            </a:r>
          </a:p>
        </p:txBody>
      </p:sp>
      <p:sp>
        <p:nvSpPr>
          <p:cNvPr id="31" name="Rounded Rectangle 30"/>
          <p:cNvSpPr/>
          <p:nvPr/>
        </p:nvSpPr>
        <p:spPr>
          <a:xfrm>
            <a:off x="6400800" y="1737360"/>
            <a:ext cx="502920" cy="502920"/>
          </a:xfrm>
          <a:prstGeom prst="round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1828800"/>
            <a:ext cx="502920" cy="320040"/>
          </a:xfrm>
          <a:prstGeom prst="rect">
            <a:avLst/>
          </a:prstGeom>
          <a:noFill/>
        </p:spPr>
        <p:txBody>
          <a:bodyPr wrap="square" anchor="t" lIns="0" rIns="0" tIns="0" bIns="0">
            <a:spAutoFit/>
          </a:bodyPr>
          <a:lstStyle/>
          <a:p>
            <a:pPr algn="ctr"/>
            <a:r>
              <a:rPr sz="1500" b="1" i="0">
                <a:solidFill>
                  <a:srgbClr val="FFFFFF"/>
                </a:solidFill>
                <a:latin typeface="Calibri"/>
              </a:rPr>
              <a:t>11</a:t>
            </a:r>
          </a:p>
        </p:txBody>
      </p:sp>
      <p:sp>
        <p:nvSpPr>
          <p:cNvPr id="33" name="TextBox 32"/>
          <p:cNvSpPr txBox="1"/>
          <p:nvPr/>
        </p:nvSpPr>
        <p:spPr>
          <a:xfrm>
            <a:off x="7086600" y="1819656"/>
            <a:ext cx="4480560" cy="365760"/>
          </a:xfrm>
          <a:prstGeom prst="rect">
            <a:avLst/>
          </a:prstGeom>
          <a:noFill/>
        </p:spPr>
        <p:txBody>
          <a:bodyPr wrap="square" anchor="t" lIns="0" rIns="0" tIns="0" bIns="0">
            <a:spAutoFit/>
          </a:bodyPr>
          <a:lstStyle/>
          <a:p>
            <a:pPr algn="l"/>
            <a:r>
              <a:rPr sz="1500" b="0" i="0">
                <a:solidFill>
                  <a:srgbClr val="5A6477"/>
                </a:solidFill>
                <a:latin typeface="Calibri"/>
              </a:rPr>
              <a:t>Adduction d'eau (Water Supply)</a:t>
            </a:r>
          </a:p>
        </p:txBody>
      </p:sp>
      <p:sp>
        <p:nvSpPr>
          <p:cNvPr id="34" name="Rounded Rectangle 33"/>
          <p:cNvSpPr/>
          <p:nvPr/>
        </p:nvSpPr>
        <p:spPr>
          <a:xfrm>
            <a:off x="6400800" y="2423160"/>
            <a:ext cx="502920" cy="502920"/>
          </a:xfrm>
          <a:prstGeom prst="round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2514600"/>
            <a:ext cx="502920" cy="320040"/>
          </a:xfrm>
          <a:prstGeom prst="rect">
            <a:avLst/>
          </a:prstGeom>
          <a:noFill/>
        </p:spPr>
        <p:txBody>
          <a:bodyPr wrap="square" anchor="t" lIns="0" rIns="0" tIns="0" bIns="0">
            <a:spAutoFit/>
          </a:bodyPr>
          <a:lstStyle/>
          <a:p>
            <a:pPr algn="ctr"/>
            <a:r>
              <a:rPr sz="1500" b="1" i="0">
                <a:solidFill>
                  <a:srgbClr val="FFFFFF"/>
                </a:solidFill>
                <a:latin typeface="Calibri"/>
              </a:rPr>
              <a:t>12</a:t>
            </a:r>
          </a:p>
        </p:txBody>
      </p:sp>
      <p:sp>
        <p:nvSpPr>
          <p:cNvPr id="36" name="TextBox 35"/>
          <p:cNvSpPr txBox="1"/>
          <p:nvPr/>
        </p:nvSpPr>
        <p:spPr>
          <a:xfrm>
            <a:off x="7086600" y="2505456"/>
            <a:ext cx="4480560" cy="365760"/>
          </a:xfrm>
          <a:prstGeom prst="rect">
            <a:avLst/>
          </a:prstGeom>
          <a:noFill/>
        </p:spPr>
        <p:txBody>
          <a:bodyPr wrap="square" anchor="t" lIns="0" rIns="0" tIns="0" bIns="0">
            <a:spAutoFit/>
          </a:bodyPr>
          <a:lstStyle/>
          <a:p>
            <a:pPr algn="l"/>
            <a:r>
              <a:rPr sz="1500" b="0" i="0">
                <a:solidFill>
                  <a:srgbClr val="5A6477"/>
                </a:solidFill>
                <a:latin typeface="Calibri"/>
              </a:rPr>
              <a:t>Agents &amp; contrôle d'accès</a:t>
            </a:r>
          </a:p>
        </p:txBody>
      </p:sp>
      <p:sp>
        <p:nvSpPr>
          <p:cNvPr id="37" name="Rounded Rectangle 36"/>
          <p:cNvSpPr/>
          <p:nvPr/>
        </p:nvSpPr>
        <p:spPr>
          <a:xfrm>
            <a:off x="6400800" y="3108960"/>
            <a:ext cx="502920" cy="502920"/>
          </a:xfrm>
          <a:prstGeom prst="round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3200400"/>
            <a:ext cx="502920" cy="320040"/>
          </a:xfrm>
          <a:prstGeom prst="rect">
            <a:avLst/>
          </a:prstGeom>
          <a:noFill/>
        </p:spPr>
        <p:txBody>
          <a:bodyPr wrap="square" anchor="t" lIns="0" rIns="0" tIns="0" bIns="0">
            <a:spAutoFit/>
          </a:bodyPr>
          <a:lstStyle/>
          <a:p>
            <a:pPr algn="ctr"/>
            <a:r>
              <a:rPr sz="1500" b="1" i="0">
                <a:solidFill>
                  <a:srgbClr val="FFFFFF"/>
                </a:solidFill>
                <a:latin typeface="Calibri"/>
              </a:rPr>
              <a:t>13</a:t>
            </a:r>
          </a:p>
        </p:txBody>
      </p:sp>
      <p:sp>
        <p:nvSpPr>
          <p:cNvPr id="39" name="TextBox 38"/>
          <p:cNvSpPr txBox="1"/>
          <p:nvPr/>
        </p:nvSpPr>
        <p:spPr>
          <a:xfrm>
            <a:off x="7086600" y="3191256"/>
            <a:ext cx="4480560" cy="365760"/>
          </a:xfrm>
          <a:prstGeom prst="rect">
            <a:avLst/>
          </a:prstGeom>
          <a:noFill/>
        </p:spPr>
        <p:txBody>
          <a:bodyPr wrap="square" anchor="t" lIns="0" rIns="0" tIns="0" bIns="0">
            <a:spAutoFit/>
          </a:bodyPr>
          <a:lstStyle/>
          <a:p>
            <a:pPr algn="l"/>
            <a:r>
              <a:rPr sz="1500" b="0" i="0">
                <a:solidFill>
                  <a:srgbClr val="5A6477"/>
                </a:solidFill>
                <a:latin typeface="Calibri"/>
              </a:rPr>
              <a:t>Mode Avancé (PRO)</a:t>
            </a:r>
          </a:p>
        </p:txBody>
      </p:sp>
      <p:sp>
        <p:nvSpPr>
          <p:cNvPr id="40" name="Rounded Rectangle 39"/>
          <p:cNvSpPr/>
          <p:nvPr/>
        </p:nvSpPr>
        <p:spPr>
          <a:xfrm>
            <a:off x="6400800" y="3794760"/>
            <a:ext cx="502920" cy="502920"/>
          </a:xfrm>
          <a:prstGeom prst="round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0" y="3886200"/>
            <a:ext cx="502920" cy="320040"/>
          </a:xfrm>
          <a:prstGeom prst="rect">
            <a:avLst/>
          </a:prstGeom>
          <a:noFill/>
        </p:spPr>
        <p:txBody>
          <a:bodyPr wrap="square" anchor="t" lIns="0" rIns="0" tIns="0" bIns="0">
            <a:spAutoFit/>
          </a:bodyPr>
          <a:lstStyle/>
          <a:p>
            <a:pPr algn="ctr"/>
            <a:r>
              <a:rPr sz="1500" b="1" i="0">
                <a:solidFill>
                  <a:srgbClr val="FFFFFF"/>
                </a:solidFill>
                <a:latin typeface="Calibri"/>
              </a:rPr>
              <a:t>14</a:t>
            </a:r>
          </a:p>
        </p:txBody>
      </p:sp>
      <p:sp>
        <p:nvSpPr>
          <p:cNvPr id="42" name="TextBox 41"/>
          <p:cNvSpPr txBox="1"/>
          <p:nvPr/>
        </p:nvSpPr>
        <p:spPr>
          <a:xfrm>
            <a:off x="7086600" y="3877056"/>
            <a:ext cx="4480560" cy="365760"/>
          </a:xfrm>
          <a:prstGeom prst="rect">
            <a:avLst/>
          </a:prstGeom>
          <a:noFill/>
        </p:spPr>
        <p:txBody>
          <a:bodyPr wrap="square" anchor="t" lIns="0" rIns="0" tIns="0" bIns="0">
            <a:spAutoFit/>
          </a:bodyPr>
          <a:lstStyle/>
          <a:p>
            <a:pPr algn="l"/>
            <a:r>
              <a:rPr sz="1500" b="0" i="0">
                <a:solidFill>
                  <a:srgbClr val="5A6477"/>
                </a:solidFill>
                <a:latin typeface="Calibri"/>
              </a:rPr>
              <a:t>Guide d'utilisation</a:t>
            </a:r>
          </a:p>
        </p:txBody>
      </p:sp>
      <p:sp>
        <p:nvSpPr>
          <p:cNvPr id="43" name="Rounded Rectangle 42"/>
          <p:cNvSpPr/>
          <p:nvPr/>
        </p:nvSpPr>
        <p:spPr>
          <a:xfrm>
            <a:off x="6400800" y="4480560"/>
            <a:ext cx="502920" cy="502920"/>
          </a:xfrm>
          <a:prstGeom prst="round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4572000"/>
            <a:ext cx="502920" cy="320040"/>
          </a:xfrm>
          <a:prstGeom prst="rect">
            <a:avLst/>
          </a:prstGeom>
          <a:noFill/>
        </p:spPr>
        <p:txBody>
          <a:bodyPr wrap="square" anchor="t" lIns="0" rIns="0" tIns="0" bIns="0">
            <a:spAutoFit/>
          </a:bodyPr>
          <a:lstStyle/>
          <a:p>
            <a:pPr algn="ctr"/>
            <a:r>
              <a:rPr sz="1500" b="1" i="0">
                <a:solidFill>
                  <a:srgbClr val="FFFFFF"/>
                </a:solidFill>
                <a:latin typeface="Calibri"/>
              </a:rPr>
              <a:t>15</a:t>
            </a:r>
          </a:p>
        </p:txBody>
      </p:sp>
      <p:sp>
        <p:nvSpPr>
          <p:cNvPr id="45" name="TextBox 44"/>
          <p:cNvSpPr txBox="1"/>
          <p:nvPr/>
        </p:nvSpPr>
        <p:spPr>
          <a:xfrm>
            <a:off x="7086600" y="4562856"/>
            <a:ext cx="4480560" cy="365760"/>
          </a:xfrm>
          <a:prstGeom prst="rect">
            <a:avLst/>
          </a:prstGeom>
          <a:noFill/>
        </p:spPr>
        <p:txBody>
          <a:bodyPr wrap="square" anchor="t" lIns="0" rIns="0" tIns="0" bIns="0">
            <a:spAutoFit/>
          </a:bodyPr>
          <a:lstStyle/>
          <a:p>
            <a:pPr algn="l"/>
            <a:r>
              <a:rPr sz="1500" b="0" i="0">
                <a:solidFill>
                  <a:srgbClr val="5A6477"/>
                </a:solidFill>
                <a:latin typeface="Calibri"/>
              </a:rPr>
              <a:t>Accessibilité : mobile, tablette, PC, hors ligne</a:t>
            </a:r>
          </a:p>
        </p:txBody>
      </p:sp>
      <p:sp>
        <p:nvSpPr>
          <p:cNvPr id="46" name="Rounded Rectangle 45"/>
          <p:cNvSpPr/>
          <p:nvPr/>
        </p:nvSpPr>
        <p:spPr>
          <a:xfrm>
            <a:off x="6400800" y="5166360"/>
            <a:ext cx="502920" cy="502920"/>
          </a:xfrm>
          <a:prstGeom prst="round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5257800"/>
            <a:ext cx="502920" cy="320040"/>
          </a:xfrm>
          <a:prstGeom prst="rect">
            <a:avLst/>
          </a:prstGeom>
          <a:noFill/>
        </p:spPr>
        <p:txBody>
          <a:bodyPr wrap="square" anchor="t" lIns="0" rIns="0" tIns="0" bIns="0">
            <a:spAutoFit/>
          </a:bodyPr>
          <a:lstStyle/>
          <a:p>
            <a:pPr algn="ctr"/>
            <a:r>
              <a:rPr sz="1500" b="1" i="0">
                <a:solidFill>
                  <a:srgbClr val="FFFFFF"/>
                </a:solidFill>
                <a:latin typeface="Calibri"/>
              </a:rPr>
              <a:t>16</a:t>
            </a:r>
          </a:p>
        </p:txBody>
      </p:sp>
      <p:sp>
        <p:nvSpPr>
          <p:cNvPr id="48" name="TextBox 47"/>
          <p:cNvSpPr txBox="1"/>
          <p:nvPr/>
        </p:nvSpPr>
        <p:spPr>
          <a:xfrm>
            <a:off x="7086600" y="5248656"/>
            <a:ext cx="4480560" cy="365760"/>
          </a:xfrm>
          <a:prstGeom prst="rect">
            <a:avLst/>
          </a:prstGeom>
          <a:noFill/>
        </p:spPr>
        <p:txBody>
          <a:bodyPr wrap="square" anchor="t" lIns="0" rIns="0" tIns="0" bIns="0">
            <a:spAutoFit/>
          </a:bodyPr>
          <a:lstStyle/>
          <a:p>
            <a:pPr algn="l"/>
            <a:r>
              <a:rPr sz="1500" b="0" i="0">
                <a:solidFill>
                  <a:srgbClr val="5A6477"/>
                </a:solidFill>
                <a:latin typeface="Calibri"/>
              </a:rPr>
              <a:t>À propos de MUKESHABA</a:t>
            </a:r>
          </a:p>
        </p:txBody>
      </p:sp>
      <p:sp>
        <p:nvSpPr>
          <p:cNvPr id="49" name="Rectangle 4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51" name="TextBox 5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par>
                          <p:cTn id="41" presetID="10" presetClass="entr" presetSubtype="0" fill="hold" grpId="0" nodeType="afterEffect">
                            <p:stCondLst>
                              <p:cond delay="250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fill="hold">
                                    <p:stCondLst>
                                      <p:cond delay="0"/>
                                    </p:stCondLst>
                                  </p:cTn>
                                  <p:tgtEl>
                                    <p:spTgt spid="12"/>
                                  </p:tgtEl>
                                </p:cBhvr>
                              </p:animEffect>
                            </p:childTnLst>
                          </p:cTn>
                        </p:par>
                        <p:par>
                          <p:cTn id="44" presetID="10" presetClass="entr" presetSubtype="0" fill="hold" grpId="0" nodeType="afterEffect">
                            <p:stCondLst>
                              <p:cond delay="275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fill="hold">
                                    <p:stCondLst>
                                      <p:cond delay="0"/>
                                    </p:stCondLst>
                                  </p:cTn>
                                  <p:tgtEl>
                                    <p:spTgt spid="13"/>
                                  </p:tgtEl>
                                </p:cBhvr>
                              </p:animEffect>
                            </p:childTnLst>
                          </p:cTn>
                        </p:par>
                        <p:par>
                          <p:cTn id="47" presetID="10" presetClass="entr" presetSubtype="0" fill="hold" grpId="0" nodeType="afterEffect">
                            <p:stCondLst>
                              <p:cond delay="300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600" fill="hold">
                                    <p:stCondLst>
                                      <p:cond delay="0"/>
                                    </p:stCondLst>
                                  </p:cTn>
                                  <p:tgtEl>
                                    <p:spTgt spid="14"/>
                                  </p:tgtEl>
                                </p:cBhvr>
                              </p:animEffect>
                            </p:childTnLst>
                          </p:cTn>
                        </p:par>
                        <p:par>
                          <p:cTn id="50" presetID="10" presetClass="entr" presetSubtype="0" fill="hold" grpId="0" nodeType="afterEffect">
                            <p:stCondLst>
                              <p:cond delay="325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600" fill="hold">
                                    <p:stCondLst>
                                      <p:cond delay="0"/>
                                    </p:stCondLst>
                                  </p:cTn>
                                  <p:tgtEl>
                                    <p:spTgt spid="15"/>
                                  </p:tgtEl>
                                </p:cBhvr>
                              </p:animEffect>
                            </p:childTnLst>
                          </p:cTn>
                        </p:par>
                        <p:par>
                          <p:cTn id="53" presetID="10" presetClass="entr" presetSubtype="0" fill="hold" grpId="0" nodeType="afterEffect">
                            <p:stCondLst>
                              <p:cond delay="350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600" fill="hold">
                                    <p:stCondLst>
                                      <p:cond delay="0"/>
                                    </p:stCondLst>
                                  </p:cTn>
                                  <p:tgtEl>
                                    <p:spTgt spid="16"/>
                                  </p:tgtEl>
                                </p:cBhvr>
                              </p:animEffect>
                            </p:childTnLst>
                          </p:cTn>
                        </p:par>
                        <p:par>
                          <p:cTn id="56" presetID="10" presetClass="entr" presetSubtype="0" fill="hold" grpId="0" nodeType="afterEffect">
                            <p:stCondLst>
                              <p:cond delay="375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600" fill="hold">
                                    <p:stCondLst>
                                      <p:cond delay="0"/>
                                    </p:stCondLst>
                                  </p:cTn>
                                  <p:tgtEl>
                                    <p:spTgt spid="17"/>
                                  </p:tgtEl>
                                </p:cBhvr>
                              </p:animEffect>
                            </p:childTnLst>
                          </p:cTn>
                        </p:par>
                        <p:par>
                          <p:cTn id="59" presetID="10" presetClass="entr" presetSubtype="0" fill="hold" grpId="0" nodeType="afterEffect">
                            <p:stCondLst>
                              <p:cond delay="400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600" fill="hold">
                                    <p:stCondLst>
                                      <p:cond delay="0"/>
                                    </p:stCondLst>
                                  </p:cTn>
                                  <p:tgtEl>
                                    <p:spTgt spid="18"/>
                                  </p:tgtEl>
                                </p:cBhvr>
                              </p:animEffect>
                            </p:childTnLst>
                          </p:cTn>
                        </p:par>
                        <p:par>
                          <p:cTn id="62" presetID="10" presetClass="entr" presetSubtype="0" fill="hold" grpId="0" nodeType="afterEffect">
                            <p:stCondLst>
                              <p:cond delay="425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600" fill="hold">
                                    <p:stCondLst>
                                      <p:cond delay="0"/>
                                    </p:stCondLst>
                                  </p:cTn>
                                  <p:tgtEl>
                                    <p:spTgt spid="19"/>
                                  </p:tgtEl>
                                </p:cBhvr>
                              </p:animEffect>
                            </p:childTnLst>
                          </p:cTn>
                        </p:par>
                        <p:par>
                          <p:cTn id="65" presetID="10" presetClass="entr" presetSubtype="0" fill="hold" grpId="0" nodeType="afterEffect">
                            <p:stCondLst>
                              <p:cond delay="450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00" fill="hold">
                                    <p:stCondLst>
                                      <p:cond delay="0"/>
                                    </p:stCondLst>
                                  </p:cTn>
                                  <p:tgtEl>
                                    <p:spTgt spid="20"/>
                                  </p:tgtEl>
                                </p:cBhvr>
                              </p:animEffect>
                            </p:childTnLst>
                          </p:cTn>
                        </p:par>
                        <p:par>
                          <p:cTn id="68" presetID="10" presetClass="entr" presetSubtype="0" fill="hold" grpId="0" nodeType="afterEffect">
                            <p:stCondLst>
                              <p:cond delay="475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600" fill="hold">
                                    <p:stCondLst>
                                      <p:cond delay="0"/>
                                    </p:stCondLst>
                                  </p:cTn>
                                  <p:tgtEl>
                                    <p:spTgt spid="21"/>
                                  </p:tgtEl>
                                </p:cBhvr>
                              </p:animEffect>
                            </p:childTnLst>
                          </p:cTn>
                        </p:par>
                        <p:par>
                          <p:cTn id="71" presetID="10" presetClass="entr" presetSubtype="0" fill="hold" grpId="0" nodeType="afterEffect">
                            <p:stCondLst>
                              <p:cond delay="500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600" fill="hold">
                                    <p:stCondLst>
                                      <p:cond delay="0"/>
                                    </p:stCondLst>
                                  </p:cTn>
                                  <p:tgtEl>
                                    <p:spTgt spid="22"/>
                                  </p:tgtEl>
                                </p:cBhvr>
                              </p:animEffect>
                            </p:childTnLst>
                          </p:cTn>
                        </p:par>
                        <p:par>
                          <p:cTn id="74" presetID="10" presetClass="entr" presetSubtype="0" fill="hold" grpId="0" nodeType="afterEffect">
                            <p:stCondLst>
                              <p:cond delay="525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600" fill="hold">
                                    <p:stCondLst>
                                      <p:cond delay="0"/>
                                    </p:stCondLst>
                                  </p:cTn>
                                  <p:tgtEl>
                                    <p:spTgt spid="23"/>
                                  </p:tgtEl>
                                </p:cBhvr>
                              </p:animEffect>
                            </p:childTnLst>
                          </p:cTn>
                        </p:par>
                        <p:par>
                          <p:cTn id="77" presetID="10" presetClass="entr" presetSubtype="0" fill="hold" grpId="0" nodeType="afterEffect">
                            <p:stCondLst>
                              <p:cond delay="550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600" fill="hold">
                                    <p:stCondLst>
                                      <p:cond delay="0"/>
                                    </p:stCondLst>
                                  </p:cTn>
                                  <p:tgtEl>
                                    <p:spTgt spid="24"/>
                                  </p:tgtEl>
                                </p:cBhvr>
                              </p:animEffect>
                            </p:childTnLst>
                          </p:cTn>
                        </p:par>
                        <p:par>
                          <p:cTn id="80" presetID="10" presetClass="entr" presetSubtype="0" fill="hold" grpId="0" nodeType="afterEffect">
                            <p:stCondLst>
                              <p:cond delay="575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00" fill="hold">
                                    <p:stCondLst>
                                      <p:cond delay="0"/>
                                    </p:stCondLst>
                                  </p:cTn>
                                  <p:tgtEl>
                                    <p:spTgt spid="25"/>
                                  </p:tgtEl>
                                </p:cBhvr>
                              </p:animEffect>
                            </p:childTnLst>
                          </p:cTn>
                        </p:par>
                        <p:par>
                          <p:cTn id="83" presetID="10" presetClass="entr" presetSubtype="0" fill="hold" grpId="0" nodeType="afterEffect">
                            <p:stCondLst>
                              <p:cond delay="600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600" fill="hold">
                                    <p:stCondLst>
                                      <p:cond delay="0"/>
                                    </p:stCondLst>
                                  </p:cTn>
                                  <p:tgtEl>
                                    <p:spTgt spid="26"/>
                                  </p:tgtEl>
                                </p:cBhvr>
                              </p:animEffect>
                            </p:childTnLst>
                          </p:cTn>
                        </p:par>
                        <p:par>
                          <p:cTn id="86" presetID="10" presetClass="entr" presetSubtype="0" fill="hold" grpId="0" nodeType="afterEffect">
                            <p:stCondLst>
                              <p:cond delay="625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600" fill="hold">
                                    <p:stCondLst>
                                      <p:cond delay="0"/>
                                    </p:stCondLst>
                                  </p:cTn>
                                  <p:tgtEl>
                                    <p:spTgt spid="27"/>
                                  </p:tgtEl>
                                </p:cBhvr>
                              </p:animEffect>
                            </p:childTnLst>
                          </p:cTn>
                        </p:par>
                        <p:par>
                          <p:cTn id="89" presetID="10" presetClass="entr" presetSubtype="0" fill="hold" grpId="0" nodeType="afterEffect">
                            <p:stCondLst>
                              <p:cond delay="6500"/>
                            </p:stCondLst>
                            <p:childTnLst>
                              <p:set>
                                <p:cBhvr>
                                  <p:cTn id="90" dur="1" fill="hold">
                                    <p:stCondLst>
                                      <p:cond delay="0"/>
                                    </p:stCondLst>
                                  </p:cTn>
                                  <p:tgtEl>
                                    <p:spTgt spid="28"/>
                                  </p:tgtEl>
                                  <p:attrNameLst>
                                    <p:attrName>style.visibility</p:attrName>
                                  </p:attrNameLst>
                                </p:cBhvr>
                                <p:to>
                                  <p:strVal val="visible"/>
                                </p:to>
                              </p:set>
                              <p:animEffect transition="in" filter="fade">
                                <p:cBhvr>
                                  <p:cTn id="91" dur="600" fill="hold">
                                    <p:stCondLst>
                                      <p:cond delay="0"/>
                                    </p:stCondLst>
                                  </p:cTn>
                                  <p:tgtEl>
                                    <p:spTgt spid="28"/>
                                  </p:tgtEl>
                                </p:cBhvr>
                              </p:animEffect>
                            </p:childTnLst>
                          </p:cTn>
                        </p:par>
                        <p:par>
                          <p:cTn id="92" presetID="10" presetClass="entr" presetSubtype="0" fill="hold" grpId="0" nodeType="afterEffect">
                            <p:stCondLst>
                              <p:cond delay="675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600" fill="hold">
                                    <p:stCondLst>
                                      <p:cond delay="0"/>
                                    </p:stCondLst>
                                  </p:cTn>
                                  <p:tgtEl>
                                    <p:spTgt spid="29"/>
                                  </p:tgtEl>
                                </p:cBhvr>
                              </p:animEffect>
                            </p:childTnLst>
                          </p:cTn>
                        </p:par>
                        <p:par>
                          <p:cTn id="95" presetID="10" presetClass="entr" presetSubtype="0" fill="hold" grpId="0" nodeType="afterEffect">
                            <p:stCondLst>
                              <p:cond delay="7000"/>
                            </p:stCondLst>
                            <p:childTnLst>
                              <p:set>
                                <p:cBhvr>
                                  <p:cTn id="96" dur="1" fill="hold">
                                    <p:stCondLst>
                                      <p:cond delay="0"/>
                                    </p:stCondLst>
                                  </p:cTn>
                                  <p:tgtEl>
                                    <p:spTgt spid="30"/>
                                  </p:tgtEl>
                                  <p:attrNameLst>
                                    <p:attrName>style.visibility</p:attrName>
                                  </p:attrNameLst>
                                </p:cBhvr>
                                <p:to>
                                  <p:strVal val="visible"/>
                                </p:to>
                              </p:set>
                              <p:animEffect transition="in" filter="fade">
                                <p:cBhvr>
                                  <p:cTn id="97" dur="600" fill="hold">
                                    <p:stCondLst>
                                      <p:cond delay="0"/>
                                    </p:stCondLst>
                                  </p:cTn>
                                  <p:tgtEl>
                                    <p:spTgt spid="30"/>
                                  </p:tgtEl>
                                </p:cBhvr>
                              </p:animEffect>
                            </p:childTnLst>
                          </p:cTn>
                        </p:par>
                        <p:par>
                          <p:cTn id="98" presetID="10" presetClass="entr" presetSubtype="0" fill="hold" grpId="0" nodeType="afterEffect">
                            <p:stCondLst>
                              <p:cond delay="7250"/>
                            </p:stCondLst>
                            <p:childTnLst>
                              <p:set>
                                <p:cBhvr>
                                  <p:cTn id="99" dur="1" fill="hold">
                                    <p:stCondLst>
                                      <p:cond delay="0"/>
                                    </p:stCondLst>
                                  </p:cTn>
                                  <p:tgtEl>
                                    <p:spTgt spid="31"/>
                                  </p:tgtEl>
                                  <p:attrNameLst>
                                    <p:attrName>style.visibility</p:attrName>
                                  </p:attrNameLst>
                                </p:cBhvr>
                                <p:to>
                                  <p:strVal val="visible"/>
                                </p:to>
                              </p:set>
                              <p:animEffect transition="in" filter="fade">
                                <p:cBhvr>
                                  <p:cTn id="100" dur="600" fill="hold">
                                    <p:stCondLst>
                                      <p:cond delay="0"/>
                                    </p:stCondLst>
                                  </p:cTn>
                                  <p:tgtEl>
                                    <p:spTgt spid="31"/>
                                  </p:tgtEl>
                                </p:cBhvr>
                              </p:animEffect>
                            </p:childTnLst>
                          </p:cTn>
                        </p:par>
                        <p:par>
                          <p:cTn id="101" presetID="10" presetClass="entr" presetSubtype="0" fill="hold" grpId="0" nodeType="afterEffect">
                            <p:stCondLst>
                              <p:cond delay="7500"/>
                            </p:stCondLst>
                            <p:childTnLst>
                              <p:set>
                                <p:cBhvr>
                                  <p:cTn id="102" dur="1" fill="hold">
                                    <p:stCondLst>
                                      <p:cond delay="0"/>
                                    </p:stCondLst>
                                  </p:cTn>
                                  <p:tgtEl>
                                    <p:spTgt spid="32"/>
                                  </p:tgtEl>
                                  <p:attrNameLst>
                                    <p:attrName>style.visibility</p:attrName>
                                  </p:attrNameLst>
                                </p:cBhvr>
                                <p:to>
                                  <p:strVal val="visible"/>
                                </p:to>
                              </p:set>
                              <p:animEffect transition="in" filter="fade">
                                <p:cBhvr>
                                  <p:cTn id="103" dur="600" fill="hold">
                                    <p:stCondLst>
                                      <p:cond delay="0"/>
                                    </p:stCondLst>
                                  </p:cTn>
                                  <p:tgtEl>
                                    <p:spTgt spid="32"/>
                                  </p:tgtEl>
                                </p:cBhvr>
                              </p:animEffect>
                            </p:childTnLst>
                          </p:cTn>
                        </p:par>
                        <p:par>
                          <p:cTn id="104" presetID="10" presetClass="entr" presetSubtype="0" fill="hold" grpId="0" nodeType="afterEffect">
                            <p:stCondLst>
                              <p:cond delay="7750"/>
                            </p:stCondLst>
                            <p:childTnLst>
                              <p:set>
                                <p:cBhvr>
                                  <p:cTn id="105" dur="1" fill="hold">
                                    <p:stCondLst>
                                      <p:cond delay="0"/>
                                    </p:stCondLst>
                                  </p:cTn>
                                  <p:tgtEl>
                                    <p:spTgt spid="33"/>
                                  </p:tgtEl>
                                  <p:attrNameLst>
                                    <p:attrName>style.visibility</p:attrName>
                                  </p:attrNameLst>
                                </p:cBhvr>
                                <p:to>
                                  <p:strVal val="visible"/>
                                </p:to>
                              </p:set>
                              <p:animEffect transition="in" filter="fade">
                                <p:cBhvr>
                                  <p:cTn id="106" dur="600" fill="hold">
                                    <p:stCondLst>
                                      <p:cond delay="0"/>
                                    </p:stCondLst>
                                  </p:cTn>
                                  <p:tgtEl>
                                    <p:spTgt spid="33"/>
                                  </p:tgtEl>
                                </p:cBhvr>
                              </p:animEffect>
                            </p:childTnLst>
                          </p:cTn>
                        </p:par>
                        <p:par>
                          <p:cTn id="107" presetID="10" presetClass="entr" presetSubtype="0" fill="hold" grpId="0" nodeType="afterEffect">
                            <p:stCondLst>
                              <p:cond delay="8000"/>
                            </p:stCondLst>
                            <p:childTnLst>
                              <p:set>
                                <p:cBhvr>
                                  <p:cTn id="108" dur="1" fill="hold">
                                    <p:stCondLst>
                                      <p:cond delay="0"/>
                                    </p:stCondLst>
                                  </p:cTn>
                                  <p:tgtEl>
                                    <p:spTgt spid="34"/>
                                  </p:tgtEl>
                                  <p:attrNameLst>
                                    <p:attrName>style.visibility</p:attrName>
                                  </p:attrNameLst>
                                </p:cBhvr>
                                <p:to>
                                  <p:strVal val="visible"/>
                                </p:to>
                              </p:set>
                              <p:animEffect transition="in" filter="fade">
                                <p:cBhvr>
                                  <p:cTn id="109" dur="600" fill="hold">
                                    <p:stCondLst>
                                      <p:cond delay="0"/>
                                    </p:stCondLst>
                                  </p:cTn>
                                  <p:tgtEl>
                                    <p:spTgt spid="34"/>
                                  </p:tgtEl>
                                </p:cBhvr>
                              </p:animEffect>
                            </p:childTnLst>
                          </p:cTn>
                        </p:par>
                        <p:par>
                          <p:cTn id="110" presetID="10" presetClass="entr" presetSubtype="0" fill="hold" grpId="0" nodeType="afterEffect">
                            <p:stCondLst>
                              <p:cond delay="8250"/>
                            </p:stCondLst>
                            <p:childTnLst>
                              <p:set>
                                <p:cBhvr>
                                  <p:cTn id="111" dur="1" fill="hold">
                                    <p:stCondLst>
                                      <p:cond delay="0"/>
                                    </p:stCondLst>
                                  </p:cTn>
                                  <p:tgtEl>
                                    <p:spTgt spid="35"/>
                                  </p:tgtEl>
                                  <p:attrNameLst>
                                    <p:attrName>style.visibility</p:attrName>
                                  </p:attrNameLst>
                                </p:cBhvr>
                                <p:to>
                                  <p:strVal val="visible"/>
                                </p:to>
                              </p:set>
                              <p:animEffect transition="in" filter="fade">
                                <p:cBhvr>
                                  <p:cTn id="112" dur="600" fill="hold">
                                    <p:stCondLst>
                                      <p:cond delay="0"/>
                                    </p:stCondLst>
                                  </p:cTn>
                                  <p:tgtEl>
                                    <p:spTgt spid="35"/>
                                  </p:tgtEl>
                                </p:cBhvr>
                              </p:animEffect>
                            </p:childTnLst>
                          </p:cTn>
                        </p:par>
                        <p:par>
                          <p:cTn id="113" presetID="10" presetClass="entr" presetSubtype="0" fill="hold" grpId="0" nodeType="afterEffect">
                            <p:stCondLst>
                              <p:cond delay="850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5" dur="600" fill="hold">
                                    <p:stCondLst>
                                      <p:cond delay="0"/>
                                    </p:stCondLst>
                                  </p:cTn>
                                  <p:tgtEl>
                                    <p:spTgt spid="36"/>
                                  </p:tgtEl>
                                </p:cBhvr>
                              </p:animEffect>
                            </p:childTnLst>
                          </p:cTn>
                        </p:par>
                        <p:par>
                          <p:cTn id="116" presetID="10" presetClass="entr" presetSubtype="0" fill="hold" grpId="0" nodeType="afterEffect">
                            <p:stCondLst>
                              <p:cond delay="875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8" dur="600" fill="hold">
                                    <p:stCondLst>
                                      <p:cond delay="0"/>
                                    </p:stCondLst>
                                  </p:cTn>
                                  <p:tgtEl>
                                    <p:spTgt spid="37"/>
                                  </p:tgtEl>
                                </p:cBhvr>
                              </p:animEffect>
                            </p:childTnLst>
                          </p:cTn>
                        </p:par>
                        <p:par>
                          <p:cTn id="119" presetID="10" presetClass="entr" presetSubtype="0" fill="hold" grpId="0" nodeType="afterEffect">
                            <p:stCondLst>
                              <p:cond delay="900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21" dur="600" fill="hold">
                                    <p:stCondLst>
                                      <p:cond delay="0"/>
                                    </p:stCondLst>
                                  </p:cTn>
                                  <p:tgtEl>
                                    <p:spTgt spid="38"/>
                                  </p:tgtEl>
                                </p:cBhvr>
                              </p:animEffect>
                            </p:childTnLst>
                          </p:cTn>
                        </p:par>
                        <p:par>
                          <p:cTn id="122" presetID="10" presetClass="entr" presetSubtype="0" fill="hold" grpId="0" nodeType="afterEffect">
                            <p:stCondLst>
                              <p:cond delay="925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4" dur="600" fill="hold">
                                    <p:stCondLst>
                                      <p:cond delay="0"/>
                                    </p:stCondLst>
                                  </p:cTn>
                                  <p:tgtEl>
                                    <p:spTgt spid="39"/>
                                  </p:tgtEl>
                                </p:cBhvr>
                              </p:animEffect>
                            </p:childTnLst>
                          </p:cTn>
                        </p:par>
                        <p:par>
                          <p:cTn id="125" presetID="10" presetClass="entr" presetSubtype="0" fill="hold" grpId="0" nodeType="afterEffect">
                            <p:stCondLst>
                              <p:cond delay="950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7" dur="600" fill="hold">
                                    <p:stCondLst>
                                      <p:cond delay="0"/>
                                    </p:stCondLst>
                                  </p:cTn>
                                  <p:tgtEl>
                                    <p:spTgt spid="40"/>
                                  </p:tgtEl>
                                </p:cBhvr>
                              </p:animEffect>
                            </p:childTnLst>
                          </p:cTn>
                        </p:par>
                        <p:par>
                          <p:cTn id="128" presetID="10" presetClass="entr" presetSubtype="0" fill="hold" grpId="0" nodeType="afterEffect">
                            <p:stCondLst>
                              <p:cond delay="9750"/>
                            </p:stCondLst>
                            <p:childTnLst>
                              <p:set>
                                <p:cBhvr>
                                  <p:cTn id="129" dur="1" fill="hold">
                                    <p:stCondLst>
                                      <p:cond delay="0"/>
                                    </p:stCondLst>
                                  </p:cTn>
                                  <p:tgtEl>
                                    <p:spTgt spid="41"/>
                                  </p:tgtEl>
                                  <p:attrNameLst>
                                    <p:attrName>style.visibility</p:attrName>
                                  </p:attrNameLst>
                                </p:cBhvr>
                                <p:to>
                                  <p:strVal val="visible"/>
                                </p:to>
                              </p:set>
                              <p:animEffect transition="in" filter="fade">
                                <p:cBhvr>
                                  <p:cTn id="130" dur="600" fill="hold">
                                    <p:stCondLst>
                                      <p:cond delay="0"/>
                                    </p:stCondLst>
                                  </p:cTn>
                                  <p:tgtEl>
                                    <p:spTgt spid="41"/>
                                  </p:tgtEl>
                                </p:cBhvr>
                              </p:animEffect>
                            </p:childTnLst>
                          </p:cTn>
                        </p:par>
                        <p:par>
                          <p:cTn id="131" presetID="10" presetClass="entr" presetSubtype="0" fill="hold" grpId="0" nodeType="afterEffect">
                            <p:stCondLst>
                              <p:cond delay="10000"/>
                            </p:stCondLst>
                            <p:childTnLst>
                              <p:set>
                                <p:cBhvr>
                                  <p:cTn id="132" dur="1" fill="hold">
                                    <p:stCondLst>
                                      <p:cond delay="0"/>
                                    </p:stCondLst>
                                  </p:cTn>
                                  <p:tgtEl>
                                    <p:spTgt spid="42"/>
                                  </p:tgtEl>
                                  <p:attrNameLst>
                                    <p:attrName>style.visibility</p:attrName>
                                  </p:attrNameLst>
                                </p:cBhvr>
                                <p:to>
                                  <p:strVal val="visible"/>
                                </p:to>
                              </p:set>
                              <p:animEffect transition="in" filter="fade">
                                <p:cBhvr>
                                  <p:cTn id="133" dur="600" fill="hold">
                                    <p:stCondLst>
                                      <p:cond delay="0"/>
                                    </p:stCondLst>
                                  </p:cTn>
                                  <p:tgtEl>
                                    <p:spTgt spid="42"/>
                                  </p:tgtEl>
                                </p:cBhvr>
                              </p:animEffect>
                            </p:childTnLst>
                          </p:cTn>
                        </p:par>
                        <p:par>
                          <p:cTn id="134" presetID="10" presetClass="entr" presetSubtype="0" fill="hold" grpId="0" nodeType="afterEffect">
                            <p:stCondLst>
                              <p:cond delay="10250"/>
                            </p:stCondLst>
                            <p:childTnLst>
                              <p:set>
                                <p:cBhvr>
                                  <p:cTn id="135" dur="1" fill="hold">
                                    <p:stCondLst>
                                      <p:cond delay="0"/>
                                    </p:stCondLst>
                                  </p:cTn>
                                  <p:tgtEl>
                                    <p:spTgt spid="43"/>
                                  </p:tgtEl>
                                  <p:attrNameLst>
                                    <p:attrName>style.visibility</p:attrName>
                                  </p:attrNameLst>
                                </p:cBhvr>
                                <p:to>
                                  <p:strVal val="visible"/>
                                </p:to>
                              </p:set>
                              <p:animEffect transition="in" filter="fade">
                                <p:cBhvr>
                                  <p:cTn id="136" dur="600" fill="hold">
                                    <p:stCondLst>
                                      <p:cond delay="0"/>
                                    </p:stCondLst>
                                  </p:cTn>
                                  <p:tgtEl>
                                    <p:spTgt spid="43"/>
                                  </p:tgtEl>
                                </p:cBhvr>
                              </p:animEffect>
                            </p:childTnLst>
                          </p:cTn>
                        </p:par>
                        <p:par>
                          <p:cTn id="137" presetID="10" presetClass="entr" presetSubtype="0" fill="hold" grpId="0" nodeType="afterEffect">
                            <p:stCondLst>
                              <p:cond delay="10500"/>
                            </p:stCondLst>
                            <p:childTnLst>
                              <p:set>
                                <p:cBhvr>
                                  <p:cTn id="138" dur="1" fill="hold">
                                    <p:stCondLst>
                                      <p:cond delay="0"/>
                                    </p:stCondLst>
                                  </p:cTn>
                                  <p:tgtEl>
                                    <p:spTgt spid="44"/>
                                  </p:tgtEl>
                                  <p:attrNameLst>
                                    <p:attrName>style.visibility</p:attrName>
                                  </p:attrNameLst>
                                </p:cBhvr>
                                <p:to>
                                  <p:strVal val="visible"/>
                                </p:to>
                              </p:set>
                              <p:animEffect transition="in" filter="fade">
                                <p:cBhvr>
                                  <p:cTn id="139" dur="600" fill="hold">
                                    <p:stCondLst>
                                      <p:cond delay="0"/>
                                    </p:stCondLst>
                                  </p:cTn>
                                  <p:tgtEl>
                                    <p:spTgt spid="44"/>
                                  </p:tgtEl>
                                </p:cBhvr>
                              </p:animEffect>
                            </p:childTnLst>
                          </p:cTn>
                        </p:par>
                        <p:par>
                          <p:cTn id="140" presetID="10" presetClass="entr" presetSubtype="0" fill="hold" grpId="0" nodeType="afterEffect">
                            <p:stCondLst>
                              <p:cond delay="10750"/>
                            </p:stCondLst>
                            <p:childTnLst>
                              <p:set>
                                <p:cBhvr>
                                  <p:cTn id="141" dur="1" fill="hold">
                                    <p:stCondLst>
                                      <p:cond delay="0"/>
                                    </p:stCondLst>
                                  </p:cTn>
                                  <p:tgtEl>
                                    <p:spTgt spid="45"/>
                                  </p:tgtEl>
                                  <p:attrNameLst>
                                    <p:attrName>style.visibility</p:attrName>
                                  </p:attrNameLst>
                                </p:cBhvr>
                                <p:to>
                                  <p:strVal val="visible"/>
                                </p:to>
                              </p:set>
                              <p:animEffect transition="in" filter="fade">
                                <p:cBhvr>
                                  <p:cTn id="142" dur="600" fill="hold">
                                    <p:stCondLst>
                                      <p:cond delay="0"/>
                                    </p:stCondLst>
                                  </p:cTn>
                                  <p:tgtEl>
                                    <p:spTgt spid="45"/>
                                  </p:tgtEl>
                                </p:cBhvr>
                              </p:animEffect>
                            </p:childTnLst>
                          </p:cTn>
                        </p:par>
                        <p:par>
                          <p:cTn id="143" presetID="10" presetClass="entr" presetSubtype="0" fill="hold" grpId="0" nodeType="afterEffect">
                            <p:stCondLst>
                              <p:cond delay="11000"/>
                            </p:stCondLst>
                            <p:childTnLst>
                              <p:set>
                                <p:cBhvr>
                                  <p:cTn id="144" dur="1" fill="hold">
                                    <p:stCondLst>
                                      <p:cond delay="0"/>
                                    </p:stCondLst>
                                  </p:cTn>
                                  <p:tgtEl>
                                    <p:spTgt spid="46"/>
                                  </p:tgtEl>
                                  <p:attrNameLst>
                                    <p:attrName>style.visibility</p:attrName>
                                  </p:attrNameLst>
                                </p:cBhvr>
                                <p:to>
                                  <p:strVal val="visible"/>
                                </p:to>
                              </p:set>
                              <p:animEffect transition="in" filter="fade">
                                <p:cBhvr>
                                  <p:cTn id="145" dur="600" fill="hold">
                                    <p:stCondLst>
                                      <p:cond delay="0"/>
                                    </p:stCondLst>
                                  </p:cTn>
                                  <p:tgtEl>
                                    <p:spTgt spid="46"/>
                                  </p:tgtEl>
                                </p:cBhvr>
                              </p:animEffect>
                            </p:childTnLst>
                          </p:cTn>
                        </p:par>
                        <p:par>
                          <p:cTn id="146" presetID="10" presetClass="entr" presetSubtype="0" fill="hold" grpId="0" nodeType="afterEffect">
                            <p:stCondLst>
                              <p:cond delay="11250"/>
                            </p:stCondLst>
                            <p:childTnLst>
                              <p:set>
                                <p:cBhvr>
                                  <p:cTn id="147" dur="1" fill="hold">
                                    <p:stCondLst>
                                      <p:cond delay="0"/>
                                    </p:stCondLst>
                                  </p:cTn>
                                  <p:tgtEl>
                                    <p:spTgt spid="47"/>
                                  </p:tgtEl>
                                  <p:attrNameLst>
                                    <p:attrName>style.visibility</p:attrName>
                                  </p:attrNameLst>
                                </p:cBhvr>
                                <p:to>
                                  <p:strVal val="visible"/>
                                </p:to>
                              </p:set>
                              <p:animEffect transition="in" filter="fade">
                                <p:cBhvr>
                                  <p:cTn id="148" dur="600" fill="hold">
                                    <p:stCondLst>
                                      <p:cond delay="0"/>
                                    </p:stCondLst>
                                  </p:cTn>
                                  <p:tgtEl>
                                    <p:spTgt spid="47"/>
                                  </p:tgtEl>
                                </p:cBhvr>
                              </p:animEffect>
                            </p:childTnLst>
                          </p:cTn>
                        </p:par>
                        <p:par>
                          <p:cTn id="149" presetID="10" presetClass="entr" presetSubtype="0" fill="hold" grpId="0" nodeType="afterEffect">
                            <p:stCondLst>
                              <p:cond delay="11500"/>
                            </p:stCondLst>
                            <p:childTnLst>
                              <p:set>
                                <p:cBhvr>
                                  <p:cTn id="150" dur="1" fill="hold">
                                    <p:stCondLst>
                                      <p:cond delay="0"/>
                                    </p:stCondLst>
                                  </p:cTn>
                                  <p:tgtEl>
                                    <p:spTgt spid="48"/>
                                  </p:tgtEl>
                                  <p:attrNameLst>
                                    <p:attrName>style.visibility</p:attrName>
                                  </p:attrNameLst>
                                </p:cBhvr>
                                <p:to>
                                  <p:strVal val="visible"/>
                                </p:to>
                              </p:set>
                              <p:animEffect transition="in" filter="fade">
                                <p:cBhvr>
                                  <p:cTn id="151" dur="600" fill="hold">
                                    <p:stCondLst>
                                      <p:cond delay="0"/>
                                    </p:stCondLst>
                                  </p:cTn>
                                  <p:tgtEl>
                                    <p:spTgt spid="48"/>
                                  </p:tgtEl>
                                </p:cBhvr>
                              </p:animEffect>
                            </p:childTnLst>
                          </p:cTn>
                        </p:par>
                        <p:par>
                          <p:cTn id="152" presetID="10" presetClass="entr" presetSubtype="0" fill="hold" grpId="0" nodeType="afterEffect">
                            <p:stCondLst>
                              <p:cond delay="11750"/>
                            </p:stCondLst>
                            <p:childTnLst>
                              <p:set>
                                <p:cBhvr>
                                  <p:cTn id="153" dur="1" fill="hold">
                                    <p:stCondLst>
                                      <p:cond delay="0"/>
                                    </p:stCondLst>
                                  </p:cTn>
                                  <p:tgtEl>
                                    <p:spTgt spid="49"/>
                                  </p:tgtEl>
                                  <p:attrNameLst>
                                    <p:attrName>style.visibility</p:attrName>
                                  </p:attrNameLst>
                                </p:cBhvr>
                                <p:to>
                                  <p:strVal val="visible"/>
                                </p:to>
                              </p:set>
                              <p:animEffect transition="in" filter="fade">
                                <p:cBhvr>
                                  <p:cTn id="154" dur="600" fill="hold">
                                    <p:stCondLst>
                                      <p:cond delay="0"/>
                                    </p:stCondLst>
                                  </p:cTn>
                                  <p:tgtEl>
                                    <p:spTgt spid="49"/>
                                  </p:tgtEl>
                                </p:cBhvr>
                              </p:animEffect>
                            </p:childTnLst>
                          </p:cTn>
                        </p:par>
                        <p:par>
                          <p:cTn id="155" presetID="10" presetClass="entr" presetSubtype="0" fill="hold" grpId="0" nodeType="afterEffect">
                            <p:stCondLst>
                              <p:cond delay="12000"/>
                            </p:stCondLst>
                            <p:childTnLst>
                              <p:set>
                                <p:cBhvr>
                                  <p:cTn id="156" dur="1" fill="hold">
                                    <p:stCondLst>
                                      <p:cond delay="0"/>
                                    </p:stCondLst>
                                  </p:cTn>
                                  <p:tgtEl>
                                    <p:spTgt spid="50"/>
                                  </p:tgtEl>
                                  <p:attrNameLst>
                                    <p:attrName>style.visibility</p:attrName>
                                  </p:attrNameLst>
                                </p:cBhvr>
                                <p:to>
                                  <p:strVal val="visible"/>
                                </p:to>
                              </p:set>
                              <p:animEffect transition="in" filter="fade">
                                <p:cBhvr>
                                  <p:cTn id="157" dur="600" fill="hold">
                                    <p:stCondLst>
                                      <p:cond delay="0"/>
                                    </p:stCondLst>
                                  </p:cTn>
                                  <p:tgtEl>
                                    <p:spTgt spid="50"/>
                                  </p:tgtEl>
                                </p:cBhvr>
                              </p:animEffect>
                            </p:childTnLst>
                          </p:cTn>
                        </p:par>
                        <p:par>
                          <p:cTn id="158" presetID="10" presetClass="entr" presetSubtype="0" fill="hold" grpId="0" nodeType="afterEffect">
                            <p:stCondLst>
                              <p:cond delay="12250"/>
                            </p:stCondLst>
                            <p:childTnLst>
                              <p:set>
                                <p:cBhvr>
                                  <p:cTn id="159" dur="1" fill="hold">
                                    <p:stCondLst>
                                      <p:cond delay="0"/>
                                    </p:stCondLst>
                                  </p:cTn>
                                  <p:tgtEl>
                                    <p:spTgt spid="51"/>
                                  </p:tgtEl>
                                  <p:attrNameLst>
                                    <p:attrName>style.visibility</p:attrName>
                                  </p:attrNameLst>
                                </p:cBhvr>
                                <p:to>
                                  <p:strVal val="visible"/>
                                </p:to>
                              </p:set>
                              <p:animEffect transition="in" filter="fade">
                                <p:cBhvr>
                                  <p:cTn id="160" dur="600" fill="hold">
                                    <p:stCondLst>
                                      <p:cond delay="0"/>
                                    </p:stCondLst>
                                  </p:cTn>
                                  <p:tgtEl>
                                    <p:spTgt spid="51"/>
                                  </p:tgtEl>
                                </p:cBhvr>
                              </p:animEffect>
                            </p:childTnLst>
                          </p:cTn>
                        </p:par>
                      </p:childTnLst>
                    </p:cTn>
                  </p:par>
                </p:childTn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MUKMAP en bref</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03</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188720"/>
            <a:ext cx="10881360" cy="1280160"/>
          </a:xfrm>
          <a:prstGeom prst="rect">
            <a:avLst/>
          </a:prstGeom>
          <a:noFill/>
        </p:spPr>
        <p:txBody>
          <a:bodyPr wrap="square" anchor="t" lIns="0" rIns="0" tIns="0" bIns="0">
            <a:spAutoFit/>
          </a:bodyPr>
          <a:lstStyle/>
          <a:p>
            <a:pPr algn="l"/>
            <a:r>
              <a:rPr sz="1600" b="0" i="0">
                <a:solidFill>
                  <a:srgbClr val="5A6477"/>
                </a:solidFill>
                <a:latin typeface="Calibri"/>
              </a:rPr>
              <a:t>MUKMAP est une plateforme SIG professionnelle de collecte, de suivi, de gestion des risques et de sécurité, éditée par MUKESHABA. Elle organise toutes les données géographiques par projet puis par activité.</a:t>
            </a:r>
          </a:p>
        </p:txBody>
      </p:sp>
      <p:sp>
        <p:nvSpPr>
          <p:cNvPr id="8" name="Rectangle 7"/>
          <p:cNvSpPr/>
          <p:nvPr/>
        </p:nvSpPr>
        <p:spPr>
          <a:xfrm>
            <a:off x="640080" y="2514600"/>
            <a:ext cx="10908792" cy="18288"/>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743200"/>
            <a:ext cx="10881360" cy="3657600"/>
          </a:xfrm>
          <a:prstGeom prst="rect">
            <a:avLst/>
          </a:prstGeom>
          <a:noFill/>
        </p:spPr>
        <p:txBody>
          <a:bodyPr wrap="square" lIns="0" rIns="0" tIns="0" bIns="0">
            <a:spAutoFit/>
          </a:bodyPr>
          <a:lstStyle/>
          <a:p>
            <a:pPr>
              <a:spcAft>
                <a:spcPts val="800"/>
              </a:spcAft>
            </a:pPr>
            <a:r>
              <a:rPr sz="1700" b="1">
                <a:solidFill>
                  <a:srgbClr val="2E74B5"/>
                </a:solidFill>
              </a:rPr>
              <a:t>•  </a:t>
            </a:r>
            <a:r>
              <a:rPr sz="1700" b="0">
                <a:solidFill>
                  <a:srgbClr val="5A6477"/>
                </a:solidFill>
                <a:latin typeface="Calibri"/>
              </a:rPr>
              <a:t>Cartographie de points d'intérêt : hôpitaux, écoles, marchés, villages, infrastructures…</a:t>
            </a:r>
          </a:p>
          <a:p>
            <a:pPr>
              <a:spcAft>
                <a:spcPts val="800"/>
              </a:spcAft>
            </a:pPr>
            <a:r>
              <a:rPr sz="1700" b="1">
                <a:solidFill>
                  <a:srgbClr val="2E74B5"/>
                </a:solidFill>
              </a:rPr>
              <a:t>•  </a:t>
            </a:r>
            <a:r>
              <a:rPr sz="1700" b="0">
                <a:solidFill>
                  <a:srgbClr val="5A6477"/>
                </a:solidFill>
                <a:latin typeface="Calibri"/>
              </a:rPr>
              <a:t>Délimitation de zones de sécurité et signalement des zones dangereuses</a:t>
            </a:r>
          </a:p>
          <a:p>
            <a:pPr>
              <a:spcAft>
                <a:spcPts val="800"/>
              </a:spcAft>
            </a:pPr>
            <a:r>
              <a:rPr sz="1700" b="1">
                <a:solidFill>
                  <a:srgbClr val="2E74B5"/>
                </a:solidFill>
              </a:rPr>
              <a:t>•  </a:t>
            </a:r>
            <a:r>
              <a:rPr sz="1700" b="0">
                <a:solidFill>
                  <a:srgbClr val="5A6477"/>
                </a:solidFill>
                <a:latin typeface="Calibri"/>
              </a:rPr>
              <a:t>Levés topographiques : repères géodésiques, altitudes, courbes de niveau, profils</a:t>
            </a:r>
          </a:p>
          <a:p>
            <a:pPr>
              <a:spcAft>
                <a:spcPts val="800"/>
              </a:spcAft>
            </a:pPr>
            <a:r>
              <a:rPr sz="1700" b="1">
                <a:solidFill>
                  <a:srgbClr val="2E74B5"/>
                </a:solidFill>
              </a:rPr>
              <a:t>•  </a:t>
            </a:r>
            <a:r>
              <a:rPr sz="1700" b="0">
                <a:solidFill>
                  <a:srgbClr val="5A6477"/>
                </a:solidFill>
                <a:latin typeface="Calibri"/>
              </a:rPr>
              <a:t>Suivi des réseaux d'adduction d'eau : captages, bornes-fontaines, réservoirs</a:t>
            </a:r>
          </a:p>
          <a:p>
            <a:pPr>
              <a:spcAft>
                <a:spcPts val="800"/>
              </a:spcAft>
            </a:pPr>
            <a:r>
              <a:rPr sz="1700" b="1">
                <a:solidFill>
                  <a:srgbClr val="2E74B5"/>
                </a:solidFill>
              </a:rPr>
              <a:t>•  </a:t>
            </a:r>
            <a:r>
              <a:rPr sz="1700" b="0">
                <a:solidFill>
                  <a:srgbClr val="5A6477"/>
                </a:solidFill>
                <a:latin typeface="Calibri"/>
              </a:rPr>
              <a:t>Mode hors ligne pour travailler sans connexion sur le terrain</a:t>
            </a:r>
          </a:p>
          <a:p>
            <a:pPr>
              <a:spcAft>
                <a:spcPts val="800"/>
              </a:spcAft>
            </a:pPr>
            <a:r>
              <a:rPr sz="1700" b="1">
                <a:solidFill>
                  <a:srgbClr val="2E74B5"/>
                </a:solidFill>
              </a:rPr>
              <a:t>•  </a:t>
            </a:r>
            <a:r>
              <a:rPr sz="1700" b="0">
                <a:solidFill>
                  <a:srgbClr val="5A6477"/>
                </a:solidFill>
                <a:latin typeface="Calibri"/>
              </a:rPr>
              <a:t>Rapports d'activités professionnels en PDF, Word et Excel</a:t>
            </a:r>
          </a:p>
          <a:p>
            <a:pPr>
              <a:spcAft>
                <a:spcPts val="800"/>
              </a:spcAft>
            </a:pPr>
            <a:r>
              <a:rPr sz="1700" b="1">
                <a:solidFill>
                  <a:srgbClr val="2E74B5"/>
                </a:solidFill>
              </a:rPr>
              <a:t>•  </a:t>
            </a:r>
            <a:r>
              <a:rPr sz="1700" b="0">
                <a:solidFill>
                  <a:srgbClr val="5A6477"/>
                </a:solidFill>
                <a:latin typeface="Calibri"/>
              </a:rPr>
              <a:t>Imports/exports SIG : GeoJSON, KML, Shapefile, GPX, DXF, plus 6 langues d'interface</a:t>
            </a:r>
          </a:p>
        </p:txBody>
      </p:sp>
      <p:sp>
        <p:nvSpPr>
          <p:cNvPr id="10" name="Rectangle 9"/>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2" name="TextBox 11"/>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par>
                          <p:cTn id="41" presetID="10" presetClass="entr" presetSubtype="0" fill="hold" grpId="0" nodeType="afterEffect">
                            <p:stCondLst>
                              <p:cond delay="250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fill="hold">
                                    <p:stCondLst>
                                      <p:cond delay="0"/>
                                    </p:stCondLst>
                                  </p:cTn>
                                  <p:tgtEl>
                                    <p:spTgt spid="12"/>
                                  </p:tgtEl>
                                </p:cBhvr>
                              </p:animEffect>
                            </p:childTnLst>
                          </p:cTn>
                        </p:par>
                      </p:childTnLst>
                    </p:cTn>
                  </p:par>
                </p:childTnLst>
              </p:cTn>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Tableau de bord &amp; indicateurs</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04</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Vue d'ensemble des points encodés, activités et bénéficiaires</a:t>
            </a:r>
          </a:p>
          <a:p>
            <a:pPr>
              <a:spcAft>
                <a:spcPts val="800"/>
              </a:spcAft>
            </a:pPr>
            <a:r>
              <a:rPr sz="1600" b="1">
                <a:solidFill>
                  <a:srgbClr val="2E74B5"/>
                </a:solidFill>
              </a:rPr>
              <a:t>•  </a:t>
            </a:r>
            <a:r>
              <a:rPr sz="1600" b="0">
                <a:solidFill>
                  <a:srgbClr val="5A6477"/>
                </a:solidFill>
                <a:latin typeface="Calibri"/>
              </a:rPr>
              <a:t>Zones de sécurité : dangereuses, sécurisées, sans information</a:t>
            </a:r>
          </a:p>
          <a:p>
            <a:pPr>
              <a:spcAft>
                <a:spcPts val="800"/>
              </a:spcAft>
            </a:pPr>
            <a:r>
              <a:rPr sz="1600" b="1">
                <a:solidFill>
                  <a:srgbClr val="2E74B5"/>
                </a:solidFill>
              </a:rPr>
              <a:t>•  </a:t>
            </a:r>
            <a:r>
              <a:rPr sz="1600" b="0">
                <a:solidFill>
                  <a:srgbClr val="5A6477"/>
                </a:solidFill>
                <a:latin typeface="Calibri"/>
              </a:rPr>
              <a:t>Évolution des activités, points par province, bénéficiaires par mois</a:t>
            </a:r>
          </a:p>
          <a:p>
            <a:pPr>
              <a:spcAft>
                <a:spcPts val="800"/>
              </a:spcAft>
            </a:pPr>
            <a:r>
              <a:rPr sz="1600" b="1">
                <a:solidFill>
                  <a:srgbClr val="2E74B5"/>
                </a:solidFill>
              </a:rPr>
              <a:t>•  </a:t>
            </a:r>
            <a:r>
              <a:rPr sz="1600" b="0">
                <a:solidFill>
                  <a:srgbClr val="5A6477"/>
                </a:solidFill>
                <a:latin typeface="Calibri"/>
              </a:rPr>
              <a:t>Répartition par projet et par catégorie</a:t>
            </a:r>
          </a:p>
          <a:p>
            <a:pPr>
              <a:spcAft>
                <a:spcPts val="800"/>
              </a:spcAft>
            </a:pPr>
            <a:r>
              <a:rPr sz="1600" b="1">
                <a:solidFill>
                  <a:srgbClr val="2E74B5"/>
                </a:solidFill>
              </a:rPr>
              <a:t>•  </a:t>
            </a:r>
            <a:r>
              <a:rPr sz="1600" b="0">
                <a:solidFill>
                  <a:srgbClr val="5A6477"/>
                </a:solidFill>
                <a:latin typeface="Calibri"/>
              </a:rPr>
              <a:t>Activités récentes et panneau d'administration</a:t>
            </a:r>
          </a:p>
          <a:p>
            <a:pPr>
              <a:spcAft>
                <a:spcPts val="800"/>
              </a:spcAft>
            </a:pPr>
            <a:r>
              <a:rPr sz="1600" b="1">
                <a:solidFill>
                  <a:srgbClr val="2E74B5"/>
                </a:solidFill>
              </a:rPr>
              <a:t>•  </a:t>
            </a:r>
            <a:r>
              <a:rPr sz="1600" b="0">
                <a:solidFill>
                  <a:srgbClr val="5A6477"/>
                </a:solidFill>
                <a:latin typeface="Calibri"/>
              </a:rPr>
              <a:t>Thème clair / sombre et sélecteur de langue</a:t>
            </a:r>
          </a:p>
        </p:txBody>
      </p:sp>
      <p:pic>
        <p:nvPicPr>
          <p:cNvPr id="8" name="Picture 7" descr="dashboard.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Carte interactive &amp; fonds de carte</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05</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Carte multi-fonds : rues, satellite, relief, sombre, topographique</a:t>
            </a:r>
          </a:p>
          <a:p>
            <a:pPr>
              <a:spcAft>
                <a:spcPts val="800"/>
              </a:spcAft>
            </a:pPr>
            <a:r>
              <a:rPr sz="1600" b="1">
                <a:solidFill>
                  <a:srgbClr val="2E74B5"/>
                </a:solidFill>
              </a:rPr>
              <a:t>•  </a:t>
            </a:r>
            <a:r>
              <a:rPr sz="1600" b="0">
                <a:solidFill>
                  <a:srgbClr val="5A6477"/>
                </a:solidFill>
                <a:latin typeface="Calibri"/>
              </a:rPr>
              <a:t>Imagerie aérienne (orthophotos drone) et couches WMS</a:t>
            </a:r>
          </a:p>
          <a:p>
            <a:pPr>
              <a:spcAft>
                <a:spcPts val="800"/>
              </a:spcAft>
            </a:pPr>
            <a:r>
              <a:rPr sz="1600" b="1">
                <a:solidFill>
                  <a:srgbClr val="2E74B5"/>
                </a:solidFill>
              </a:rPr>
              <a:t>•  </a:t>
            </a:r>
            <a:r>
              <a:rPr sz="1600" b="0">
                <a:solidFill>
                  <a:srgbClr val="5A6477"/>
                </a:solidFill>
                <a:latin typeface="Calibri"/>
              </a:rPr>
              <a:t>Recherche de lieu et localisation par coordonnées GPS</a:t>
            </a:r>
          </a:p>
          <a:p>
            <a:pPr>
              <a:spcAft>
                <a:spcPts val="800"/>
              </a:spcAft>
            </a:pPr>
            <a:r>
              <a:rPr sz="1600" b="1">
                <a:solidFill>
                  <a:srgbClr val="2E74B5"/>
                </a:solidFill>
              </a:rPr>
              <a:t>•  </a:t>
            </a:r>
            <a:r>
              <a:rPr sz="1600" b="0">
                <a:solidFill>
                  <a:srgbClr val="5A6477"/>
                </a:solidFill>
                <a:latin typeface="Calibri"/>
              </a:rPr>
              <a:t>Identification d'un élément : table attributaire complète</a:t>
            </a:r>
          </a:p>
          <a:p>
            <a:pPr>
              <a:spcAft>
                <a:spcPts val="800"/>
              </a:spcAft>
            </a:pPr>
            <a:r>
              <a:rPr sz="1600" b="1">
                <a:solidFill>
                  <a:srgbClr val="2E74B5"/>
                </a:solidFill>
              </a:rPr>
              <a:t>•  </a:t>
            </a:r>
            <a:r>
              <a:rPr sz="1600" b="0">
                <a:solidFill>
                  <a:srgbClr val="5A6477"/>
                </a:solidFill>
                <a:latin typeface="Calibri"/>
              </a:rPr>
              <a:t>Outils de dessin et de mesure : point, ligne, polygone, cercle, rectangle</a:t>
            </a:r>
          </a:p>
          <a:p>
            <a:pPr>
              <a:spcAft>
                <a:spcPts val="800"/>
              </a:spcAft>
            </a:pPr>
            <a:r>
              <a:rPr sz="1600" b="1">
                <a:solidFill>
                  <a:srgbClr val="2E74B5"/>
                </a:solidFill>
              </a:rPr>
              <a:t>•  </a:t>
            </a:r>
            <a:r>
              <a:rPr sz="1600" b="0">
                <a:solidFill>
                  <a:srgbClr val="5A6477"/>
                </a:solidFill>
                <a:latin typeface="Calibri"/>
              </a:rPr>
              <a:t>Zoom sur objet, plein écran, navigation fluide</a:t>
            </a:r>
          </a:p>
        </p:txBody>
      </p:sp>
      <p:pic>
        <p:nvPicPr>
          <p:cNvPr id="8" name="Picture 7" descr="carte.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Collecte de points sur le terrain</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06</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Catégories : hôpital, école, église, marché, village, pont, route, incident…</a:t>
            </a:r>
          </a:p>
          <a:p>
            <a:pPr>
              <a:spcAft>
                <a:spcPts val="800"/>
              </a:spcAft>
            </a:pPr>
            <a:r>
              <a:rPr sz="1600" b="1">
                <a:solidFill>
                  <a:srgbClr val="2E74B5"/>
                </a:solidFill>
              </a:rPr>
              <a:t>•  </a:t>
            </a:r>
            <a:r>
              <a:rPr sz="1600" b="0">
                <a:solidFill>
                  <a:srgbClr val="5A6477"/>
                </a:solidFill>
                <a:latin typeface="Calibri"/>
              </a:rPr>
              <a:t>Coordonnées GPS automatiques (cliquer sur la carte ou géolocalisation)</a:t>
            </a:r>
          </a:p>
          <a:p>
            <a:pPr>
              <a:spcAft>
                <a:spcPts val="800"/>
              </a:spcAft>
            </a:pPr>
            <a:r>
              <a:rPr sz="1600" b="1">
                <a:solidFill>
                  <a:srgbClr val="2E74B5"/>
                </a:solidFill>
              </a:rPr>
              <a:t>•  </a:t>
            </a:r>
            <a:r>
              <a:rPr sz="1600" b="0">
                <a:solidFill>
                  <a:srgbClr val="5A6477"/>
                </a:solidFill>
                <a:latin typeface="Calibri"/>
              </a:rPr>
              <a:t>Photos géoréférencées : date, heure et position lues dans l'EXIF</a:t>
            </a:r>
          </a:p>
          <a:p>
            <a:pPr>
              <a:spcAft>
                <a:spcPts val="800"/>
              </a:spcAft>
            </a:pPr>
            <a:r>
              <a:rPr sz="1600" b="1">
                <a:solidFill>
                  <a:srgbClr val="2E74B5"/>
                </a:solidFill>
              </a:rPr>
              <a:t>•  </a:t>
            </a:r>
            <a:r>
              <a:rPr sz="1600" b="0">
                <a:solidFill>
                  <a:srgbClr val="5A6477"/>
                </a:solidFill>
                <a:latin typeface="Calibri"/>
              </a:rPr>
              <a:t>Galerie multimédia : photos, vidéos, audio et PDF</a:t>
            </a:r>
          </a:p>
          <a:p>
            <a:pPr>
              <a:spcAft>
                <a:spcPts val="800"/>
              </a:spcAft>
            </a:pPr>
            <a:r>
              <a:rPr sz="1600" b="1">
                <a:solidFill>
                  <a:srgbClr val="2E74B5"/>
                </a:solidFill>
              </a:rPr>
              <a:t>•  </a:t>
            </a:r>
            <a:r>
              <a:rPr sz="1600" b="0">
                <a:solidFill>
                  <a:srgbClr val="5A6477"/>
                </a:solidFill>
                <a:latin typeface="Calibri"/>
              </a:rPr>
              <a:t>Fiche détaillée, historique d'audit et modifications</a:t>
            </a:r>
          </a:p>
          <a:p>
            <a:pPr>
              <a:spcAft>
                <a:spcPts val="800"/>
              </a:spcAft>
            </a:pPr>
            <a:r>
              <a:rPr sz="1600" b="1">
                <a:solidFill>
                  <a:srgbClr val="2E74B5"/>
                </a:solidFill>
              </a:rPr>
              <a:t>•  </a:t>
            </a:r>
            <a:r>
              <a:rPr sz="1600" b="0">
                <a:solidFill>
                  <a:srgbClr val="5A6477"/>
                </a:solidFill>
                <a:latin typeface="Calibri"/>
              </a:rPr>
              <a:t>Tableau « Tous les points » avec recherche et vues</a:t>
            </a:r>
          </a:p>
        </p:txBody>
      </p:sp>
      <p:pic>
        <p:nvPicPr>
          <p:cNvPr id="8" name="Picture 7" descr="points.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Zones de sécurité</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07</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Déclaration de zones dangereuses, sécurisées ou sans information</a:t>
            </a:r>
          </a:p>
          <a:p>
            <a:pPr>
              <a:spcAft>
                <a:spcPts val="800"/>
              </a:spcAft>
            </a:pPr>
            <a:r>
              <a:rPr sz="1600" b="1">
                <a:solidFill>
                  <a:srgbClr val="2E74B5"/>
                </a:solidFill>
              </a:rPr>
              <a:t>•  </a:t>
            </a:r>
            <a:r>
              <a:rPr sz="1600" b="0">
                <a:solidFill>
                  <a:srgbClr val="5A6477"/>
                </a:solidFill>
                <a:latin typeface="Calibri"/>
              </a:rPr>
              <a:t>Zones ponctuelles (rayon) ou délimitées sur la carte</a:t>
            </a:r>
          </a:p>
          <a:p>
            <a:pPr>
              <a:spcAft>
                <a:spcPts val="800"/>
              </a:spcAft>
            </a:pPr>
            <a:r>
              <a:rPr sz="1600" b="1">
                <a:solidFill>
                  <a:srgbClr val="2E74B5"/>
                </a:solidFill>
              </a:rPr>
              <a:t>•  </a:t>
            </a:r>
            <a:r>
              <a:rPr sz="1600" b="0">
                <a:solidFill>
                  <a:srgbClr val="5A6477"/>
                </a:solidFill>
                <a:latin typeface="Calibri"/>
              </a:rPr>
              <a:t>Motif de déclaration, responsable et date</a:t>
            </a:r>
          </a:p>
          <a:p>
            <a:pPr>
              <a:spcAft>
                <a:spcPts val="800"/>
              </a:spcAft>
            </a:pPr>
            <a:r>
              <a:rPr sz="1600" b="1">
                <a:solidFill>
                  <a:srgbClr val="2E74B5"/>
                </a:solidFill>
              </a:rPr>
              <a:t>•  </a:t>
            </a:r>
            <a:r>
              <a:rPr sz="1600" b="0">
                <a:solidFill>
                  <a:srgbClr val="5A6477"/>
                </a:solidFill>
                <a:latin typeface="Calibri"/>
              </a:rPr>
              <a:t>Alertes visibles sur les itinéraires</a:t>
            </a:r>
          </a:p>
          <a:p>
            <a:pPr>
              <a:spcAft>
                <a:spcPts val="800"/>
              </a:spcAft>
            </a:pPr>
            <a:r>
              <a:rPr sz="1600" b="1">
                <a:solidFill>
                  <a:srgbClr val="2E74B5"/>
                </a:solidFill>
              </a:rPr>
              <a:t>•  </a:t>
            </a:r>
            <a:r>
              <a:rPr sz="1600" b="0">
                <a:solidFill>
                  <a:srgbClr val="5A6477"/>
                </a:solidFill>
                <a:latin typeface="Calibri"/>
              </a:rPr>
              <a:t>Zones dangereuses intégrées dans les rapports</a:t>
            </a:r>
          </a:p>
          <a:p>
            <a:pPr>
              <a:spcAft>
                <a:spcPts val="800"/>
              </a:spcAft>
            </a:pPr>
            <a:r>
              <a:rPr sz="1600" b="1">
                <a:solidFill>
                  <a:srgbClr val="2E74B5"/>
                </a:solidFill>
              </a:rPr>
              <a:t>•  </a:t>
            </a:r>
            <a:r>
              <a:rPr sz="1600" b="0">
                <a:solidFill>
                  <a:srgbClr val="5A6477"/>
                </a:solidFill>
                <a:latin typeface="Calibri"/>
              </a:rPr>
              <a:t>Modification et suppression avec journal d'audit</a:t>
            </a:r>
          </a:p>
        </p:txBody>
      </p:sp>
      <p:pic>
        <p:nvPicPr>
          <p:cNvPr id="8" name="Picture 7" descr="zones.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Itinéraires &amp; suivi terrain</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08</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Tracer un parcours directement sur la carte</a:t>
            </a:r>
          </a:p>
          <a:p>
            <a:pPr>
              <a:spcAft>
                <a:spcPts val="800"/>
              </a:spcAft>
            </a:pPr>
            <a:r>
              <a:rPr sz="1600" b="1">
                <a:solidFill>
                  <a:srgbClr val="2E74B5"/>
                </a:solidFill>
              </a:rPr>
              <a:t>•  </a:t>
            </a:r>
            <a:r>
              <a:rPr sz="1600" b="0">
                <a:solidFill>
                  <a:srgbClr val="5A6477"/>
                </a:solidFill>
                <a:latin typeface="Calibri"/>
              </a:rPr>
              <a:t>Analyse automatique des zones traversées (dangereuses…)</a:t>
            </a:r>
          </a:p>
          <a:p>
            <a:pPr>
              <a:spcAft>
                <a:spcPts val="800"/>
              </a:spcAft>
            </a:pPr>
            <a:r>
              <a:rPr sz="1600" b="1">
                <a:solidFill>
                  <a:srgbClr val="2E74B5"/>
                </a:solidFill>
              </a:rPr>
              <a:t>•  </a:t>
            </a:r>
            <a:r>
              <a:rPr sz="1600" b="0">
                <a:solidFill>
                  <a:srgbClr val="5A6477"/>
                </a:solidFill>
                <a:latin typeface="Calibri"/>
              </a:rPr>
              <a:t>Liste de mes itinéraires avec détail et date</a:t>
            </a:r>
          </a:p>
          <a:p>
            <a:pPr>
              <a:spcAft>
                <a:spcPts val="800"/>
              </a:spcAft>
            </a:pPr>
            <a:r>
              <a:rPr sz="1600" b="1">
                <a:solidFill>
                  <a:srgbClr val="2E74B5"/>
                </a:solidFill>
              </a:rPr>
              <a:t>•  </a:t>
            </a:r>
            <a:r>
              <a:rPr sz="1600" b="0">
                <a:solidFill>
                  <a:srgbClr val="5A6477"/>
                </a:solidFill>
                <a:latin typeface="Calibri"/>
              </a:rPr>
              <a:t>Alertes de sécurité pendant le trajet</a:t>
            </a:r>
          </a:p>
          <a:p>
            <a:pPr>
              <a:spcAft>
                <a:spcPts val="800"/>
              </a:spcAft>
            </a:pPr>
            <a:r>
              <a:rPr sz="1600" b="1">
                <a:solidFill>
                  <a:srgbClr val="2E74B5"/>
                </a:solidFill>
              </a:rPr>
              <a:t>•  </a:t>
            </a:r>
            <a:r>
              <a:rPr sz="1600" b="0">
                <a:solidFill>
                  <a:srgbClr val="5A6477"/>
                </a:solidFill>
                <a:latin typeface="Calibri"/>
              </a:rPr>
              <a:t>Itinéraires intégrés dans les rapports d'activités</a:t>
            </a:r>
          </a:p>
        </p:txBody>
      </p:sp>
      <p:pic>
        <p:nvPicPr>
          <p:cNvPr id="8" name="Picture 7" descr="itineraire.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Projets &amp; activités</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09</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Organisation par projet puis par activité</a:t>
            </a:r>
          </a:p>
          <a:p>
            <a:pPr>
              <a:spcAft>
                <a:spcPts val="800"/>
              </a:spcAft>
            </a:pPr>
            <a:r>
              <a:rPr sz="1600" b="1">
                <a:solidFill>
                  <a:srgbClr val="2E74B5"/>
                </a:solidFill>
              </a:rPr>
              <a:t>•  </a:t>
            </a:r>
            <a:r>
              <a:rPr sz="1600" b="0">
                <a:solidFill>
                  <a:srgbClr val="5A6477"/>
                </a:solidFill>
                <a:latin typeface="Calibri"/>
              </a:rPr>
              <a:t>Modèles d'activités pour accélérer la saisie terrain</a:t>
            </a:r>
          </a:p>
          <a:p>
            <a:pPr>
              <a:spcAft>
                <a:spcPts val="800"/>
              </a:spcAft>
            </a:pPr>
            <a:r>
              <a:rPr sz="1600" b="1">
                <a:solidFill>
                  <a:srgbClr val="2E74B5"/>
                </a:solidFill>
              </a:rPr>
              <a:t>•  </a:t>
            </a:r>
            <a:r>
              <a:rPr sz="1600" b="0">
                <a:solidFill>
                  <a:srgbClr val="5A6477"/>
                </a:solidFill>
                <a:latin typeface="Calibri"/>
              </a:rPr>
              <a:t>Archivage et réactivation des projets</a:t>
            </a:r>
          </a:p>
          <a:p>
            <a:pPr>
              <a:spcAft>
                <a:spcPts val="800"/>
              </a:spcAft>
            </a:pPr>
            <a:r>
              <a:rPr sz="1600" b="1">
                <a:solidFill>
                  <a:srgbClr val="2E74B5"/>
                </a:solidFill>
              </a:rPr>
              <a:t>•  </a:t>
            </a:r>
            <a:r>
              <a:rPr sz="1600" b="0">
                <a:solidFill>
                  <a:srgbClr val="5A6477"/>
                </a:solidFill>
                <a:latin typeface="Calibri"/>
              </a:rPr>
              <a:t>Suggestions automatiques depuis l'historique</a:t>
            </a:r>
          </a:p>
          <a:p>
            <a:pPr>
              <a:spcAft>
                <a:spcPts val="800"/>
              </a:spcAft>
            </a:pPr>
            <a:r>
              <a:rPr sz="1600" b="1">
                <a:solidFill>
                  <a:srgbClr val="2E74B5"/>
                </a:solidFill>
              </a:rPr>
              <a:t>•  </a:t>
            </a:r>
            <a:r>
              <a:rPr sz="1600" b="0">
                <a:solidFill>
                  <a:srgbClr val="5A6477"/>
                </a:solidFill>
                <a:latin typeface="Calibri"/>
              </a:rPr>
              <a:t>Sélection du projet et de l'activité en cours</a:t>
            </a:r>
          </a:p>
        </p:txBody>
      </p:sp>
      <p:pic>
        <p:nvPicPr>
          <p:cNvPr id="8" name="Picture 7" descr="projets.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Rapports professionnels</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10</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Assistant de rapport en 6 étapes (période, projet, activités, filtres, sections)</a:t>
            </a:r>
          </a:p>
          <a:p>
            <a:pPr>
              <a:spcAft>
                <a:spcPts val="800"/>
              </a:spcAft>
            </a:pPr>
            <a:r>
              <a:rPr sz="1600" b="1">
                <a:solidFill>
                  <a:srgbClr val="2E74B5"/>
                </a:solidFill>
              </a:rPr>
              <a:t>•  </a:t>
            </a:r>
            <a:r>
              <a:rPr sz="1600" b="0">
                <a:solidFill>
                  <a:srgbClr val="5A6477"/>
                </a:solidFill>
                <a:latin typeface="Calibri"/>
              </a:rPr>
              <a:t>Types : journalier, hebdomadaire, mensuel, annuel, personnalisé</a:t>
            </a:r>
          </a:p>
          <a:p>
            <a:pPr>
              <a:spcAft>
                <a:spcPts val="800"/>
              </a:spcAft>
            </a:pPr>
            <a:r>
              <a:rPr sz="1600" b="1">
                <a:solidFill>
                  <a:srgbClr val="2E74B5"/>
                </a:solidFill>
              </a:rPr>
              <a:t>•  </a:t>
            </a:r>
            <a:r>
              <a:rPr sz="1600" b="0">
                <a:solidFill>
                  <a:srgbClr val="5A6477"/>
                </a:solidFill>
                <a:latin typeface="Calibri"/>
              </a:rPr>
              <a:t>Jusqu'à 15 sections : bénéficiaires, agents, terrain, zones, météo…</a:t>
            </a:r>
          </a:p>
          <a:p>
            <a:pPr>
              <a:spcAft>
                <a:spcPts val="800"/>
              </a:spcAft>
            </a:pPr>
            <a:r>
              <a:rPr sz="1600" b="1">
                <a:solidFill>
                  <a:srgbClr val="2E74B5"/>
                </a:solidFill>
              </a:rPr>
              <a:t>•  </a:t>
            </a:r>
            <a:r>
              <a:rPr sz="1600" b="0">
                <a:solidFill>
                  <a:srgbClr val="5A6477"/>
                </a:solidFill>
                <a:latin typeface="Calibri"/>
              </a:rPr>
              <a:t>Export PDF, Word, Excel et impression</a:t>
            </a:r>
          </a:p>
          <a:p>
            <a:pPr>
              <a:spcAft>
                <a:spcPts val="800"/>
              </a:spcAft>
            </a:pPr>
            <a:r>
              <a:rPr sz="1600" b="1">
                <a:solidFill>
                  <a:srgbClr val="2E74B5"/>
                </a:solidFill>
              </a:rPr>
              <a:t>•  </a:t>
            </a:r>
            <a:r>
              <a:rPr sz="1600" b="0">
                <a:solidFill>
                  <a:srgbClr val="5A6477"/>
                </a:solidFill>
                <a:latin typeface="Calibri"/>
              </a:rPr>
              <a:t>Conditions météorologiques intégrées par activité</a:t>
            </a:r>
          </a:p>
        </p:txBody>
      </p:sp>
      <p:pic>
        <p:nvPicPr>
          <p:cNvPr id="8" name="Picture 7" descr="rapport.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Adduction d'eau (Water Supply)</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11</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Module complet de collecte : sources, bornes-fontaines, villages, réservoirs</a:t>
            </a:r>
          </a:p>
          <a:p>
            <a:pPr>
              <a:spcAft>
                <a:spcPts val="800"/>
              </a:spcAft>
            </a:pPr>
            <a:r>
              <a:rPr sz="1600" b="1">
                <a:solidFill>
                  <a:srgbClr val="2E74B5"/>
                </a:solidFill>
              </a:rPr>
              <a:t>•  </a:t>
            </a:r>
            <a:r>
              <a:rPr sz="1600" b="0">
                <a:solidFill>
                  <a:srgbClr val="5A6477"/>
                </a:solidFill>
                <a:latin typeface="Calibri"/>
              </a:rPr>
              <a:t>Données techniques : débit, profondeur, qualité de l'eau (pH, turbidité…)</a:t>
            </a:r>
          </a:p>
          <a:p>
            <a:pPr>
              <a:spcAft>
                <a:spcPts val="800"/>
              </a:spcAft>
            </a:pPr>
            <a:r>
              <a:rPr sz="1600" b="1">
                <a:solidFill>
                  <a:srgbClr val="2E74B5"/>
                </a:solidFill>
              </a:rPr>
              <a:t>•  </a:t>
            </a:r>
            <a:r>
              <a:rPr sz="1600" b="0">
                <a:solidFill>
                  <a:srgbClr val="5A6477"/>
                </a:solidFill>
                <a:latin typeface="Calibri"/>
              </a:rPr>
              <a:t>Dessin des conduites et tracé du réseau</a:t>
            </a:r>
          </a:p>
          <a:p>
            <a:pPr>
              <a:spcAft>
                <a:spcPts val="800"/>
              </a:spcAft>
            </a:pPr>
            <a:r>
              <a:rPr sz="1600" b="1">
                <a:solidFill>
                  <a:srgbClr val="2E74B5"/>
                </a:solidFill>
              </a:rPr>
              <a:t>•  </a:t>
            </a:r>
            <a:r>
              <a:rPr sz="1600" b="0">
                <a:solidFill>
                  <a:srgbClr val="5A6477"/>
                </a:solidFill>
                <a:latin typeface="Calibri"/>
              </a:rPr>
              <a:t>Tableau de bord d'indicateurs et suivi du projet</a:t>
            </a:r>
          </a:p>
          <a:p>
            <a:pPr>
              <a:spcAft>
                <a:spcPts val="800"/>
              </a:spcAft>
            </a:pPr>
            <a:r>
              <a:rPr sz="1600" b="1">
                <a:solidFill>
                  <a:srgbClr val="2E74B5"/>
                </a:solidFill>
              </a:rPr>
              <a:t>•  </a:t>
            </a:r>
            <a:r>
              <a:rPr sz="1600" b="0">
                <a:solidFill>
                  <a:srgbClr val="5A6477"/>
                </a:solidFill>
                <a:latin typeface="Calibri"/>
              </a:rPr>
              <a:t>Export PDF / Excel des ouvrages et profils</a:t>
            </a:r>
          </a:p>
        </p:txBody>
      </p:sp>
      <p:pic>
        <p:nvPicPr>
          <p:cNvPr id="8" name="Picture 7" descr="adduction.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Agents &amp; contrôle d'accès</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12</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Gestion des comptes agents de terrain</a:t>
            </a:r>
          </a:p>
          <a:p>
            <a:pPr>
              <a:spcAft>
                <a:spcPts val="800"/>
              </a:spcAft>
            </a:pPr>
            <a:r>
              <a:rPr sz="1600" b="1">
                <a:solidFill>
                  <a:srgbClr val="2E74B5"/>
                </a:solidFill>
              </a:rPr>
              <a:t>•  </a:t>
            </a:r>
            <a:r>
              <a:rPr sz="1600" b="0">
                <a:solidFill>
                  <a:srgbClr val="5A6477"/>
                </a:solidFill>
                <a:latin typeface="Calibri"/>
              </a:rPr>
              <a:t>Blocage et déblocage en un clic</a:t>
            </a:r>
          </a:p>
          <a:p>
            <a:pPr>
              <a:spcAft>
                <a:spcPts val="800"/>
              </a:spcAft>
            </a:pPr>
            <a:r>
              <a:rPr sz="1600" b="1">
                <a:solidFill>
                  <a:srgbClr val="2E74B5"/>
                </a:solidFill>
              </a:rPr>
              <a:t>•  </a:t>
            </a:r>
            <a:r>
              <a:rPr sz="1600" b="0">
                <a:solidFill>
                  <a:srgbClr val="5A6477"/>
                </a:solidFill>
                <a:latin typeface="Calibri"/>
              </a:rPr>
              <a:t>Profil avec fonction, mission et photo d'identité</a:t>
            </a:r>
          </a:p>
          <a:p>
            <a:pPr>
              <a:spcAft>
                <a:spcPts val="800"/>
              </a:spcAft>
            </a:pPr>
            <a:r>
              <a:rPr sz="1600" b="1">
                <a:solidFill>
                  <a:srgbClr val="2E74B5"/>
                </a:solidFill>
              </a:rPr>
              <a:t>•  </a:t>
            </a:r>
            <a:r>
              <a:rPr sz="1600" b="0">
                <a:solidFill>
                  <a:srgbClr val="5A6477"/>
                </a:solidFill>
                <a:latin typeface="Calibri"/>
              </a:rPr>
              <a:t>Journal d'audit complet (action, agent, IP, date)</a:t>
            </a:r>
          </a:p>
          <a:p>
            <a:pPr>
              <a:spcAft>
                <a:spcPts val="800"/>
              </a:spcAft>
            </a:pPr>
            <a:r>
              <a:rPr sz="1600" b="1">
                <a:solidFill>
                  <a:srgbClr val="2E74B5"/>
                </a:solidFill>
              </a:rPr>
              <a:t>•  </a:t>
            </a:r>
            <a:r>
              <a:rPr sz="1600" b="0">
                <a:solidFill>
                  <a:srgbClr val="5A6477"/>
                </a:solidFill>
                <a:latin typeface="Calibri"/>
              </a:rPr>
              <a:t>Mot de passe oublié géré par l'administrateur</a:t>
            </a:r>
          </a:p>
        </p:txBody>
      </p:sp>
      <p:pic>
        <p:nvPicPr>
          <p:cNvPr id="8" name="Picture 7" descr="agents.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Mode Avancé (PRO)</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13</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Code d'accès temporaire ou permanent, réservé à l'administrateur principal</a:t>
            </a:r>
          </a:p>
          <a:p>
            <a:pPr>
              <a:spcAft>
                <a:spcPts val="800"/>
              </a:spcAft>
            </a:pPr>
            <a:r>
              <a:rPr sz="1600" b="1">
                <a:solidFill>
                  <a:srgbClr val="2E74B5"/>
                </a:solidFill>
              </a:rPr>
              <a:t>•  </a:t>
            </a:r>
            <a:r>
              <a:rPr sz="1600" b="0">
                <a:solidFill>
                  <a:srgbClr val="5A6477"/>
                </a:solidFill>
                <a:latin typeface="Calibri"/>
              </a:rPr>
              <a:t>Fonds de carte personnalisés et imagerie aérienne</a:t>
            </a:r>
          </a:p>
          <a:p>
            <a:pPr>
              <a:spcAft>
                <a:spcPts val="800"/>
              </a:spcAft>
            </a:pPr>
            <a:r>
              <a:rPr sz="1600" b="1">
                <a:solidFill>
                  <a:srgbClr val="2E74B5"/>
                </a:solidFill>
              </a:rPr>
              <a:t>•  </a:t>
            </a:r>
            <a:r>
              <a:rPr sz="1600" b="0">
                <a:solidFill>
                  <a:srgbClr val="5A6477"/>
                </a:solidFill>
                <a:latin typeface="Calibri"/>
              </a:rPr>
              <a:t>Couches WMS superposables</a:t>
            </a:r>
          </a:p>
          <a:p>
            <a:pPr>
              <a:spcAft>
                <a:spcPts val="800"/>
              </a:spcAft>
            </a:pPr>
            <a:r>
              <a:rPr sz="1600" b="1">
                <a:solidFill>
                  <a:srgbClr val="2E74B5"/>
                </a:solidFill>
              </a:rPr>
              <a:t>•  </a:t>
            </a:r>
            <a:r>
              <a:rPr sz="1600" b="0">
                <a:solidFill>
                  <a:srgbClr val="5A6477"/>
                </a:solidFill>
                <a:latin typeface="Calibri"/>
              </a:rPr>
              <a:t>Outils de terrain avancés : topographie, infrastructures, réseau eau</a:t>
            </a:r>
          </a:p>
          <a:p>
            <a:pPr>
              <a:spcAft>
                <a:spcPts val="800"/>
              </a:spcAft>
            </a:pPr>
            <a:r>
              <a:rPr sz="1600" b="1">
                <a:solidFill>
                  <a:srgbClr val="2E74B5"/>
                </a:solidFill>
              </a:rPr>
              <a:t>•  </a:t>
            </a:r>
            <a:r>
              <a:rPr sz="1600" b="0">
                <a:solidFill>
                  <a:srgbClr val="5A6477"/>
                </a:solidFill>
                <a:latin typeface="Calibri"/>
              </a:rPr>
              <a:t>Le mode avancé est détaillé dans le guide d'utilisation</a:t>
            </a:r>
          </a:p>
        </p:txBody>
      </p:sp>
      <p:pic>
        <p:nvPicPr>
          <p:cNvPr id="8" name="Picture 7" descr="mode_avance.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Guide d'utilisation</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14</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Guide complet officiel en PDF et Word (20 chapitres + annexes)</a:t>
            </a:r>
          </a:p>
          <a:p>
            <a:pPr>
              <a:spcAft>
                <a:spcPts val="800"/>
              </a:spcAft>
            </a:pPr>
            <a:r>
              <a:rPr sz="1600" b="1">
                <a:solidFill>
                  <a:srgbClr val="2E74B5"/>
                </a:solidFill>
              </a:rPr>
              <a:t>•  </a:t>
            </a:r>
            <a:r>
              <a:rPr sz="1600" b="0">
                <a:solidFill>
                  <a:srgbClr val="5A6477"/>
                </a:solidFill>
                <a:latin typeface="Calibri"/>
              </a:rPr>
              <a:t>Accessible dans l'espace Super Admin</a:t>
            </a:r>
          </a:p>
          <a:p>
            <a:pPr>
              <a:spcAft>
                <a:spcPts val="800"/>
              </a:spcAft>
            </a:pPr>
            <a:r>
              <a:rPr sz="1600" b="1">
                <a:solidFill>
                  <a:srgbClr val="2E74B5"/>
                </a:solidFill>
              </a:rPr>
              <a:t>•  </a:t>
            </a:r>
            <a:r>
              <a:rPr sz="1600" b="0">
                <a:solidFill>
                  <a:srgbClr val="5A6477"/>
                </a:solidFill>
                <a:latin typeface="Calibri"/>
              </a:rPr>
              <a:t>Glossaire, outils/icônes, raccourcis, FAQ, procédures types</a:t>
            </a:r>
          </a:p>
          <a:p>
            <a:pPr>
              <a:spcAft>
                <a:spcPts val="800"/>
              </a:spcAft>
            </a:pPr>
            <a:r>
              <a:rPr sz="1600" b="1">
                <a:solidFill>
                  <a:srgbClr val="2E74B5"/>
                </a:solidFill>
              </a:rPr>
              <a:t>•  </a:t>
            </a:r>
            <a:r>
              <a:rPr sz="1600" b="0">
                <a:solidFill>
                  <a:srgbClr val="5A6477"/>
                </a:solidFill>
                <a:latin typeface="Calibri"/>
              </a:rPr>
              <a:t>Version affichée : MUKMAP 1.0</a:t>
            </a:r>
          </a:p>
          <a:p>
            <a:pPr>
              <a:spcAft>
                <a:spcPts val="800"/>
              </a:spcAft>
            </a:pPr>
            <a:r>
              <a:rPr sz="1600" b="1">
                <a:solidFill>
                  <a:srgbClr val="2E74B5"/>
                </a:solidFill>
              </a:rPr>
              <a:t>•  </a:t>
            </a:r>
            <a:r>
              <a:rPr sz="1600" b="0">
                <a:solidFill>
                  <a:srgbClr val="5A6477"/>
                </a:solidFill>
                <a:latin typeface="Calibri"/>
              </a:rPr>
              <a:t>Édité et publié par MUKESHABA</a:t>
            </a:r>
          </a:p>
        </p:txBody>
      </p:sp>
      <p:pic>
        <p:nvPicPr>
          <p:cNvPr id="8" name="Picture 7" descr="guide.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09728" cy="6858000"/>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9601200" cy="914400"/>
          </a:xfrm>
          <a:prstGeom prst="rect">
            <a:avLst/>
          </a:prstGeom>
          <a:noFill/>
        </p:spPr>
        <p:txBody>
          <a:bodyPr wrap="square" lIns="0" tIns="0">
            <a:spAutoFit/>
          </a:bodyPr>
          <a:lstStyle/>
          <a:p>
            <a:r>
              <a:rPr sz="3000" b="1">
                <a:solidFill>
                  <a:srgbClr val="0F3554"/>
                </a:solidFill>
                <a:latin typeface="Calibri"/>
              </a:rPr>
              <a:t>Accessibilité : mobile, tablette, PC, hors ligne</a:t>
            </a:r>
          </a:p>
        </p:txBody>
      </p:sp>
      <p:sp>
        <p:nvSpPr>
          <p:cNvPr id="5" name="TextBox 4"/>
          <p:cNvSpPr txBox="1"/>
          <p:nvPr/>
        </p:nvSpPr>
        <p:spPr>
          <a:xfrm>
            <a:off x="11064240" y="292608"/>
            <a:ext cx="914400" cy="548640"/>
          </a:xfrm>
          <a:prstGeom prst="rect">
            <a:avLst/>
          </a:prstGeom>
          <a:noFill/>
        </p:spPr>
        <p:txBody>
          <a:bodyPr wrap="none" tIns="0">
            <a:spAutoFit/>
          </a:bodyPr>
          <a:lstStyle/>
          <a:p>
            <a:pPr algn="r"/>
            <a:r>
              <a:rPr sz="1400" b="1">
                <a:solidFill>
                  <a:srgbClr val="C0504D"/>
                </a:solidFill>
              </a:rPr>
              <a:t>15</a:t>
            </a:r>
          </a:p>
        </p:txBody>
      </p:sp>
      <p:pic>
        <p:nvPicPr>
          <p:cNvPr id="6" name="Picture 5" descr="MUKMAP.png"/>
          <p:cNvPicPr>
            <a:picLocks noChangeAspect="1"/>
          </p:cNvPicPr>
          <p:nvPr/>
        </p:nvPicPr>
        <p:blipFill>
          <a:blip r:embed="rId2"/>
          <a:stretch>
            <a:fillRect/>
          </a:stretch>
        </p:blipFill>
        <p:spPr>
          <a:xfrm>
            <a:off x="10607040" y="566928"/>
            <a:ext cx="1234440" cy="1234440"/>
          </a:xfrm>
          <a:prstGeom prst="rect">
            <a:avLst/>
          </a:prstGeom>
        </p:spPr>
      </p:pic>
      <p:sp>
        <p:nvSpPr>
          <p:cNvPr id="7" name="TextBox 6"/>
          <p:cNvSpPr txBox="1"/>
          <p:nvPr/>
        </p:nvSpPr>
        <p:spPr>
          <a:xfrm>
            <a:off x="640080" y="1234440"/>
            <a:ext cx="4937760" cy="5029200"/>
          </a:xfrm>
          <a:prstGeom prst="rect">
            <a:avLst/>
          </a:prstGeom>
          <a:noFill/>
        </p:spPr>
        <p:txBody>
          <a:bodyPr wrap="square" lIns="0" rIns="0" tIns="0" bIns="0">
            <a:spAutoFit/>
          </a:bodyPr>
          <a:lstStyle/>
          <a:p>
            <a:pPr>
              <a:spcAft>
                <a:spcPts val="800"/>
              </a:spcAft>
            </a:pPr>
            <a:r>
              <a:rPr sz="1600" b="1">
                <a:solidFill>
                  <a:srgbClr val="2E74B5"/>
                </a:solidFill>
              </a:rPr>
              <a:t>•  </a:t>
            </a:r>
            <a:r>
              <a:rPr sz="1600" b="0">
                <a:solidFill>
                  <a:srgbClr val="5A6477"/>
                </a:solidFill>
                <a:latin typeface="Calibri"/>
              </a:rPr>
              <a:t>Application installable (PWA) sur téléphone, tablette et ordinateur</a:t>
            </a:r>
          </a:p>
          <a:p>
            <a:pPr>
              <a:spcAft>
                <a:spcPts val="800"/>
              </a:spcAft>
            </a:pPr>
            <a:r>
              <a:rPr sz="1600" b="1">
                <a:solidFill>
                  <a:srgbClr val="2E74B5"/>
                </a:solidFill>
              </a:rPr>
              <a:t>•  </a:t>
            </a:r>
            <a:r>
              <a:rPr sz="1600" b="0">
                <a:solidFill>
                  <a:srgbClr val="5A6477"/>
                </a:solidFill>
                <a:latin typeface="Calibri"/>
              </a:rPr>
              <a:t>Interface adaptative : tiroir plein écran, panneaux flottants, FAB</a:t>
            </a:r>
          </a:p>
          <a:p>
            <a:pPr>
              <a:spcAft>
                <a:spcPts val="800"/>
              </a:spcAft>
            </a:pPr>
            <a:r>
              <a:rPr sz="1600" b="1">
                <a:solidFill>
                  <a:srgbClr val="2E74B5"/>
                </a:solidFill>
              </a:rPr>
              <a:t>•  </a:t>
            </a:r>
            <a:r>
              <a:rPr sz="1600" b="0">
                <a:solidFill>
                  <a:srgbClr val="5A6477"/>
                </a:solidFill>
                <a:latin typeface="Calibri"/>
              </a:rPr>
              <a:t>Mode hors ligne : téléchargement des zones, collecte puis synchronisation</a:t>
            </a:r>
          </a:p>
          <a:p>
            <a:pPr>
              <a:spcAft>
                <a:spcPts val="800"/>
              </a:spcAft>
            </a:pPr>
            <a:r>
              <a:rPr sz="1600" b="1">
                <a:solidFill>
                  <a:srgbClr val="2E74B5"/>
                </a:solidFill>
              </a:rPr>
              <a:t>•  </a:t>
            </a:r>
            <a:r>
              <a:rPr sz="1600" b="0">
                <a:solidFill>
                  <a:srgbClr val="5A6477"/>
                </a:solidFill>
                <a:latin typeface="Calibri"/>
              </a:rPr>
              <a:t>Météo automatique avec cache local et badge temps réel</a:t>
            </a:r>
          </a:p>
          <a:p>
            <a:pPr>
              <a:spcAft>
                <a:spcPts val="800"/>
              </a:spcAft>
            </a:pPr>
            <a:r>
              <a:rPr sz="1600" b="1">
                <a:solidFill>
                  <a:srgbClr val="2E74B5"/>
                </a:solidFill>
              </a:rPr>
              <a:t>•  </a:t>
            </a:r>
            <a:r>
              <a:rPr sz="1600" b="0">
                <a:solidFill>
                  <a:srgbClr val="5A6477"/>
                </a:solidFill>
                <a:latin typeface="Calibri"/>
              </a:rPr>
              <a:t>6 langues : français, anglais, swahili, lingala, portugais, chinois</a:t>
            </a:r>
          </a:p>
        </p:txBody>
      </p:sp>
      <p:pic>
        <p:nvPicPr>
          <p:cNvPr id="8" name="Picture 7" descr="connexion.png"/>
          <p:cNvPicPr>
            <a:picLocks noChangeAspect="1"/>
          </p:cNvPicPr>
          <p:nvPr/>
        </p:nvPicPr>
        <p:blipFill>
          <a:blip r:embed="rId3"/>
          <a:stretch>
            <a:fillRect/>
          </a:stretch>
        </p:blipFill>
        <p:spPr>
          <a:xfrm>
            <a:off x="5806440" y="1234440"/>
            <a:ext cx="6035040" cy="3776472"/>
          </a:xfrm>
          <a:prstGeom prst="rect">
            <a:avLst/>
          </a:prstGeom>
          <a:ln w="19050">
            <a:solidFill>
              <a:srgbClr val="2E74B5"/>
            </a:solidFill>
          </a:ln>
        </p:spPr>
      </p:pic>
      <p:sp>
        <p:nvSpPr>
          <p:cNvPr id="9" name="Rectangle 8"/>
          <p:cNvSpPr/>
          <p:nvPr/>
        </p:nvSpPr>
        <p:spPr>
          <a:xfrm>
            <a:off x="0" y="6656832"/>
            <a:ext cx="12191695" cy="201168"/>
          </a:xfrm>
          <a:prstGeom prst="rect">
            <a:avLst/>
          </a:prstGeom>
          <a:solidFill>
            <a:srgbClr val="0F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19088"/>
            <a:ext cx="8229600" cy="274320"/>
          </a:xfrm>
          <a:prstGeom prst="rect">
            <a:avLst/>
          </a:prstGeom>
          <a:noFill/>
        </p:spPr>
        <p:txBody>
          <a:bodyPr wrap="square" anchor="t" lIns="0" rIns="0" tIns="0" bIns="0">
            <a:spAutoFit/>
          </a:bodyPr>
          <a:lstStyle/>
          <a:p>
            <a:pPr algn="l"/>
            <a:r>
              <a:rPr sz="1000" b="0" i="0">
                <a:solidFill>
                  <a:srgbClr val="E8ECF3"/>
                </a:solidFill>
                <a:latin typeface="Calibri"/>
              </a:rPr>
              <a:t>© MUKESHABA — +243 971460415 | chroniquedejamesmukeshaba@gmail.com</a:t>
            </a:r>
          </a:p>
        </p:txBody>
      </p:sp>
      <p:sp>
        <p:nvSpPr>
          <p:cNvPr id="11" name="TextBox 10"/>
          <p:cNvSpPr txBox="1"/>
          <p:nvPr/>
        </p:nvSpPr>
        <p:spPr>
          <a:xfrm>
            <a:off x="11247120" y="6419088"/>
            <a:ext cx="822960" cy="274320"/>
          </a:xfrm>
          <a:prstGeom prst="rect">
            <a:avLst/>
          </a:prstGeom>
          <a:noFill/>
        </p:spPr>
        <p:txBody>
          <a:bodyPr wrap="square" anchor="t" lIns="0" rIns="0" tIns="0" bIns="0">
            <a:spAutoFit/>
          </a:bodyPr>
          <a:lstStyle/>
          <a:p>
            <a:pPr algn="r"/>
            <a:r>
              <a:rPr sz="1000" b="0" i="0">
                <a:solidFill>
                  <a:srgbClr val="E8ECF3"/>
                </a:solidFill>
                <a:latin typeface="Calibri"/>
              </a:rPr>
              <a:t>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par>
                          <p:cTn id="35" presetID="10" presetClass="entr" presetSubtype="0" fill="hold" grpId="0" nodeType="afterEffect">
                            <p:stCondLst>
                              <p:cond delay="20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fill="hold">
                                    <p:stCondLst>
                                      <p:cond delay="0"/>
                                    </p:stCondLst>
                                  </p:cTn>
                                  <p:tgtEl>
                                    <p:spTgt spid="10"/>
                                  </p:tgtEl>
                                </p:cBhvr>
                              </p:animEffect>
                            </p:childTnLst>
                          </p:cTn>
                        </p:par>
                        <p:par>
                          <p:cTn id="38" presetID="10" presetClass="entr" presetSubtype="0" fill="hold" grpId="0" nodeType="afterEffect">
                            <p:stCondLst>
                              <p:cond delay="22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fill="hold">
                                    <p:stCondLst>
                                      <p:cond delay="0"/>
                                    </p:stCondLst>
                                  </p:cTn>
                                  <p:tgtEl>
                                    <p:spTgt spid="11"/>
                                  </p:tgtEl>
                                </p:cBhvr>
                              </p:animEffect>
                            </p:childTnLst>
                          </p:cTn>
                        </p:par>
                      </p:childTnLst>
                    </p:cTn>
                  </p:par>
                </p:childTnLst>
              </p:cTn>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3554"/>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UKMAP.png"/>
          <p:cNvPicPr>
            <a:picLocks noChangeAspect="1"/>
          </p:cNvPicPr>
          <p:nvPr/>
        </p:nvPicPr>
        <p:blipFill>
          <a:blip r:embed="rId2"/>
          <a:stretch>
            <a:fillRect/>
          </a:stretch>
        </p:blipFill>
        <p:spPr>
          <a:xfrm>
            <a:off x="4956048" y="822960"/>
            <a:ext cx="2286000" cy="2286000"/>
          </a:xfrm>
          <a:prstGeom prst="rect">
            <a:avLst/>
          </a:prstGeom>
        </p:spPr>
      </p:pic>
      <p:sp>
        <p:nvSpPr>
          <p:cNvPr id="5" name="TextBox 4"/>
          <p:cNvSpPr txBox="1"/>
          <p:nvPr/>
        </p:nvSpPr>
        <p:spPr>
          <a:xfrm>
            <a:off x="914400" y="3291840"/>
            <a:ext cx="10360152" cy="731520"/>
          </a:xfrm>
          <a:prstGeom prst="rect">
            <a:avLst/>
          </a:prstGeom>
          <a:noFill/>
        </p:spPr>
        <p:txBody>
          <a:bodyPr wrap="square" anchor="t" lIns="0" rIns="0" tIns="0" bIns="0">
            <a:spAutoFit/>
          </a:bodyPr>
          <a:lstStyle/>
          <a:p>
            <a:pPr algn="ctr"/>
            <a:r>
              <a:rPr sz="3600" b="1" i="0">
                <a:solidFill>
                  <a:srgbClr val="FFFFFF"/>
                </a:solidFill>
                <a:latin typeface="Calibri"/>
              </a:rPr>
              <a:t>À propos de MUKESHABA</a:t>
            </a:r>
          </a:p>
        </p:txBody>
      </p:sp>
      <p:sp>
        <p:nvSpPr>
          <p:cNvPr id="6" name="TextBox 5"/>
          <p:cNvSpPr txBox="1"/>
          <p:nvPr/>
        </p:nvSpPr>
        <p:spPr>
          <a:xfrm>
            <a:off x="1463040" y="4114800"/>
            <a:ext cx="9262872" cy="1005840"/>
          </a:xfrm>
          <a:prstGeom prst="rect">
            <a:avLst/>
          </a:prstGeom>
          <a:noFill/>
        </p:spPr>
        <p:txBody>
          <a:bodyPr wrap="square" anchor="t" lIns="0" rIns="0" tIns="0" bIns="0">
            <a:spAutoFit/>
          </a:bodyPr>
          <a:lstStyle/>
          <a:p>
            <a:pPr algn="ctr"/>
            <a:r>
              <a:rPr sz="1600" b="0" i="0">
                <a:solidFill>
                  <a:srgbClr val="D9E4F2"/>
                </a:solidFill>
                <a:latin typeface="Calibri"/>
              </a:rPr>
              <a:t>MUKESHABA est une entreprise de conception et de développement de logiciels. MUKMAP est développée par Ir. Yagirwa Gedeon — Consultant SIG &amp; Développeur Web.</a:t>
            </a:r>
          </a:p>
        </p:txBody>
      </p:sp>
      <p:sp>
        <p:nvSpPr>
          <p:cNvPr id="7" name="Rounded Rectangle 6"/>
          <p:cNvSpPr/>
          <p:nvPr/>
        </p:nvSpPr>
        <p:spPr>
          <a:xfrm>
            <a:off x="4041648" y="5349240"/>
            <a:ext cx="4114800" cy="822960"/>
          </a:xfrm>
          <a:prstGeom prst="round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41648" y="5486400"/>
            <a:ext cx="4114800" cy="548640"/>
          </a:xfrm>
          <a:prstGeom prst="rect">
            <a:avLst/>
          </a:prstGeom>
          <a:noFill/>
        </p:spPr>
        <p:txBody>
          <a:bodyPr wrap="square" anchor="t" lIns="0" rIns="0" tIns="0" bIns="0">
            <a:spAutoFit/>
          </a:bodyPr>
          <a:lstStyle/>
          <a:p>
            <a:pPr algn="ctr"/>
            <a:r>
              <a:rPr sz="1400" b="1" i="0">
                <a:solidFill>
                  <a:srgbClr val="FFFFFF"/>
                </a:solidFill>
                <a:latin typeface="Calibri"/>
              </a:rPr>
              <a:t>+243 971460415 | chroniquedejamesmukeshaba@gmail.com</a:t>
            </a:r>
          </a:p>
        </p:txBody>
      </p:sp>
      <p:pic>
        <p:nvPicPr>
          <p:cNvPr id="9" name="Picture 8" descr="MUKESHABA.png"/>
          <p:cNvPicPr>
            <a:picLocks noChangeAspect="1"/>
          </p:cNvPicPr>
          <p:nvPr/>
        </p:nvPicPr>
        <p:blipFill>
          <a:blip r:embed="rId3"/>
          <a:stretch>
            <a:fillRect/>
          </a:stretch>
        </p:blipFill>
        <p:spPr>
          <a:xfrm>
            <a:off x="5870448" y="6309360"/>
            <a:ext cx="457200" cy="457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600" fill="hold">
                                    <p:stCondLst>
                                      <p:cond delay="0"/>
                                    </p:stCondLst>
                                  </p:cTn>
                                  <p:tgtEl>
                                    <p:spTgt spid="2"/>
                                  </p:tgtEl>
                                </p:cBhvr>
                              </p:animEffect>
                            </p:childTnLst>
                          </p:cTn>
                        </p:par>
                        <p:par>
                          <p:cTn id="14" presetID="10" presetClass="entr" presetSubtype="0" fill="hold" grpId="0" nodeType="afterEffect">
                            <p:stCondLst>
                              <p:cond delay="25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fill="hold">
                                    <p:stCondLst>
                                      <p:cond delay="0"/>
                                    </p:stCondLst>
                                  </p:cTn>
                                  <p:tgtEl>
                                    <p:spTgt spid="3"/>
                                  </p:tgtEl>
                                </p:cBhvr>
                              </p:animEffect>
                            </p:childTnLst>
                          </p:cTn>
                        </p:par>
                        <p:par>
                          <p:cTn id="17" presetID="10"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fill="hold">
                                    <p:stCondLst>
                                      <p:cond delay="0"/>
                                    </p:stCondLst>
                                  </p:cTn>
                                  <p:tgtEl>
                                    <p:spTgt spid="4"/>
                                  </p:tgtEl>
                                </p:cBhvr>
                              </p:animEffect>
                            </p:childTnLst>
                          </p:cTn>
                        </p:par>
                        <p:par>
                          <p:cTn id="20" presetID="10" presetClass="entr" presetSubtype="0" fill="hold" grpId="0" nodeType="after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fill="hold">
                                    <p:stCondLst>
                                      <p:cond delay="0"/>
                                    </p:stCondLst>
                                  </p:cTn>
                                  <p:tgtEl>
                                    <p:spTgt spid="5"/>
                                  </p:tgtEl>
                                </p:cBhvr>
                              </p:animEffect>
                            </p:childTnLst>
                          </p:cTn>
                        </p:par>
                        <p:par>
                          <p:cTn id="23" presetID="10" presetClass="entr" presetSubtype="0" fill="hold" grpId="0" nodeType="after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fill="hold">
                                    <p:stCondLst>
                                      <p:cond delay="0"/>
                                    </p:stCondLst>
                                  </p:cTn>
                                  <p:tgtEl>
                                    <p:spTgt spid="6"/>
                                  </p:tgtEl>
                                </p:cBhvr>
                              </p:animEffect>
                            </p:childTnLst>
                          </p:cTn>
                        </p:par>
                        <p:par>
                          <p:cTn id="26" presetID="10" presetClass="entr" presetSubtype="0" fill="hold" grpId="0" nodeType="afterEffect">
                            <p:stCondLst>
                              <p:cond delay="1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fill="hold">
                                    <p:stCondLst>
                                      <p:cond delay="0"/>
                                    </p:stCondLst>
                                  </p:cTn>
                                  <p:tgtEl>
                                    <p:spTgt spid="7"/>
                                  </p:tgtEl>
                                </p:cBhvr>
                              </p:animEffect>
                            </p:childTnLst>
                          </p:cTn>
                        </p:par>
                        <p:par>
                          <p:cTn id="29" presetID="10" presetClass="entr" presetSubtype="0" fill="hold" grpId="0" nodeType="afterEffect">
                            <p:stCondLst>
                              <p:cond delay="1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fill="hold">
                                    <p:stCondLst>
                                      <p:cond delay="0"/>
                                    </p:stCondLst>
                                  </p:cTn>
                                  <p:tgtEl>
                                    <p:spTgt spid="8"/>
                                  </p:tgtEl>
                                </p:cBhvr>
                              </p:animEffect>
                            </p:childTnLst>
                          </p:cTn>
                        </p:par>
                        <p:par>
                          <p:cTn id="32" presetID="10" presetClass="entr" presetSubtype="0" fill="hold" grpId="0" nodeType="afterEffect">
                            <p:stCondLst>
                              <p:cond delay="17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fill="hold">
                                    <p:stCondLst>
                                      <p:cond delay="0"/>
                                    </p:stCondLst>
                                  </p:cTn>
                                  <p:tgtEl>
                                    <p:spTgt spid="9"/>
                                  </p:tgtEl>
                                </p:cBhvr>
                              </p:animEffect>
                            </p:childTnLst>
                          </p:cTn>
                        </p:par>
                      </p:childTnLst>
                    </p:cTn>
                  </p:par>
                </p:childTnLst>
              </p:cTn>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